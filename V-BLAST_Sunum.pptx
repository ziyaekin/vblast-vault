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Herkese merhaba. Bugün kablosuz haberleşmenin kilometre taşı sayılan bir çalışmayı, Bell Labs'in V-BLAST mimarisini anlatacağım. Bu makale, aynı frekansı ve aynı zamanı paylaşan birden fazla anteni kullanarak, kablosuz spektral verimliliği o güne kadar görülmemiş seviyelere — 20 ila 40 bps/Hz'e — çıkarmayı başardı. Sunumun sonunda, hem yöntemin nasıl çalıştığını hem de bunu kendi MATLAB simülasyonumuzla nasıl doğruladığımızı göreceğiz. Önce en temelden, tek antenli sistemlerden başlayacağız.</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Yol haritamız şöyle: Önce neden yeni bir yönteme ihtiyaç duyulduğunu, kapasite sorununu konuşacağız. Ardından MIMO'nun ne olduğunu ve birden fazla anteni hangi amaçlarla kullanabileceğimizi göreceğiz. Buradan V-BLAST'e geçip alıcının kalbindeki iki fikri — nulling ve sıralı iptal — adım adım inceleyeceğiz. Makalenin laboratuvar sonuçlarını gördükten sonra, aynı ortamı MATLAB'de sıfırdan simüle edip kendi sonuçlarımızı sunacağım. Yaklaşık 40 dakika sürecek; sonunda sorularınız için zaman ayıracağım.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 yıl daha fazla cihaz, daha fazla veri istiyor. Ama kablosuz haberleşmenin hammaddesi olan frekans spektrumu kıt bir kaynak; lisansları milyarlarca dolar. İki klasik çözüm var: ya daha geniş bant kullanırsınız — ama bant yok — ya da daha fazla güç verirsiniz — ama bu çok verimsiz. Asıl soru şu: aynı frekans bandından, gücü de çok artırmadan, nasıl çok daha fazla bit geçirebiliriz? V-BLAST'in cevabı, normalde baş belası saydığımız çok yollu yayılımı bir avantaja çevirmekten geçiyor.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basit sistemle başlayalım: SISO, yani tek verici ve tek alıcı anten. Sinyal havada yol alırken zayıflar, gürültüye karışır ve duvarlara çarpıp birden fazla yoldan alıcıya ulaşır — buna multipath diyoruz. Bu kopyalar bazen birbirini güçlendirir, bazen söndürür; sinyal gücü dalgalanır, buna sönümlenme yani fading denir. Tek antenli sistemlerde multipath tamamen bir baş belasıdır. Bu cümleyi aklınızda tutun, çünkü MIMO bunu tersine çevirecek.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Bir kanaldan ne kadar hızlı veri geçirebileceğimizin sınırını Shannon formülü verir: kapasite eşittir bant genişliği çarpı log iki tabanında bir artı SNR. Acı gerçek şu: bandı artıramıyoruz çünkü spektrum kıt. Gücü iki katına çıkarsak bile SNR logaritmanın içinde olduğu için kapasite sadece bir tık artar — yani güç pompalamak verimsiz. Sonuçta spektral verimlilik birkaç bps/Hz'de tıkanır. Peki ne yapacağız? Yepyeni bir boyut eklemek: uzayı.</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MIMO, çok girişli çok çıkışlı demek: vericide M, alıcıda N anten. Fikir cüretkâr: aynı frekansta, aynı anda birden fazla bağımsız akış gönderelim. Sezgi 'karışırlar' der; MIMO 'karışsınlar, alıcıda ayırırız' der. Bunu mümkün kılan kanal matrisi H: bol yansıma varsa her verici-alıcı çiftinin kanalı farklı olur, H'nin sütunları bağımsızlaşır ve denklem çözülebilir hale gelir. Yankılı bir odada dört kişi konuşurken farklı yerlerdeki dört mikrofon sesleri ayırabilir — MIMO tam olarak budur.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Önemli bir noktayı netleştirelim: birden fazla anten kullanmak tek bir şey değildir; üç amacı vardır. Birincisi çeşitleme, diversity: aynı veriyi farklı yollardan gönderip alırsınız, biri sönümlenmeye düşse bile diğeri sağlam kalır — güvenilirlik artar. Alıcıda yaparsanız RX diversity, vericide Alamouti gibi kodlarla yaparsanız TX diversity. İkincisi hüzmeleme: enerjiyi bir yöne odaklar, SNR ve kapsama artar. Üçüncüsü uzamsal çoğullama: farklı antenden farklı veri gönderip hızı katlarsınız — V-BLAST tam olarak budur. Ama aynı antenleri ya hıza ya güvenilirliğe ayırırsınız; bir ödünleşim var. V-BLAST hıza odaklanır, ama alıcı anten fazlalığıyla biraz çeşitleme de kazanır.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Çoğullamanın gücü şurada: SISO'da gücü iki katına çıkarmak kapasiteyi sadece logaritmik artırıyordu. MIMO'da ise kapasite anten sayısı M ile doğrudan çarpılıyor — doğrusal büyüyor. Sekiz anten kabaca sekiz kat kapasite, üstelik ne ekstra bant ne ekstra güç gerekmeden. Spektrumun altın değerinde olduğu bir dünyada bu bir devrim. V-BLAST bu fikrin gerçek donanımda çalışan pratik gerçeklemesi. Peki bu karışmış akışları alıcıda nasıl ayıracağız?</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BLAST, Bell Labs Layered Space-Time'ın kısaltması ve iki üyesi var. D-BLAST, alt-akışlar arasında çapraz kodlama kullanır; teorik olarak müthiş, Shannon'un yüzde doksanına ulaşır, ama gerçek zamanlı uygulaması çok zor. V-BLAST bu kodlamayı atar: sadece böl ve gönder. Biraz performanstan feragat eder ama gerçek zamanlı çalışan basit bir sistem sunar. Çözdüğü problem net: MIMO verimini pratik, çalışan bir alıcıyla elde etmek. Vericide her şey basit; tüm zekâ alıcıda.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Sistemin kuş bakışı görünümü bu. Tek veri akışı vektör kodlayıcıda M alt-akışa bölünüyor, her biri sıradan bir QAM vericisine gidiyor. M verici aynı frekansta, senkronize, aynı anda yayın yapıyor; toplam güç sabit kalsın diye her biri 1/M güçle. Sinyaller zengin saçılma ortamından geçip karışarak N alıcı antene ulaşıyor. Bütün marifet sağdaki kutuda: V-BLAST sinyal işleme. Sunumun geri kalanı bu kutunun içini açmak olacak.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Tüm problemi tek denkleme indirgeyelim: alınan vektör r eşittir kanal H çarpı gönderilen a, artı gürültü nü. Kanal bir burst boyunca sabit kalıyor — yarı-durağan — ve eğitim dizisiyle H'yi doğru tahmin ediyoruz. Yani r ve H biliniyor, a'yı çözeceğiz. 'a eşittir H ters çarpı r' demek istiyorsunuz; doğru ama gürültü yüzünden iş o kadar basit değil — alıcı tasarımı burada devreye giriyor.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Karışmış sinyalleri ayırmanın ilk yolu nulling. Bir akışı istenen, diğerlerini girişim kabul ediyoruz ve alınan sinyali öyle bir ağırlık vektörüyle çarpıyoruz ki istenen geçsin, diğerleri sıfırlansın. Zero-Forcing'de ağırlık vektörü istenen sütunla çarpınca bir, diğerleriyle sıfır verir — formüldeki Kronecker delta budur. ZF basit ama gürültüyü büyütebilir. MMSE ise girişim ile gürültüyü birlikte dengeler, genelde daha iyidir; bunu simülasyonda karşılaştıracağız. Ama nulling tek başına en iyisi değil.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V-BLAST'i güçlü kılan ikinci fikir: ardışık sembol iptali, SIC. Bir sembolü çözdüysem, onun sinyale kattığı katkıyı çıkarabilirim; geriye bir girişim daha az kalır. Döngü: nulling ile kaba tahmin al, slice et yani en yakın noktaya yuvarla, sonra bu tahmini kanal sütunuyla çarpıp sinyalden çıkar. Problem küçüldü, kalan akışlar için tekrarla. Her turda iş kolaylaşıyor. Bu, karar geri-beslemeli denkleştirmeye benzer. Peki neden saf nulling'den iyi?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Cevap ağırlık vektörünün normunda. Saf nulling'de her vektör diğer M eksi bir akışın hepsine ortogonal olmak zorunda — ağır kısıt. İptalle, bir akışı çıkardıktan sonra vektör yalnızca kalan akışlara ortogonal olmak zorunda — az kısıt. Cauchy-Schwarz gereği, bir vektör ne kadar çok şeye ortogonal olmaya zorlanırsa normu o kadar büyür. Ve şu formül kritik: detection sonrası SNR, normun karesiyle ters orantılı. Küçük norm, yüksek SNR. İptal kısıtları azaltır, norm küçülür, SNR yükselir, hata düşer.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İptal kullanınca yeni soru: hangi sırayla çözelim? Önce çözülen akış sonrakileri etkiler. En zayıf akış hatayı belirlediği için en kötü akışın SNR'ını maksimize etmek isteriz — maximin. Makalenin zarif sonucu: her adımda o anki en güçlü akışı seçmek, küresel olarak en iyi sıralamayı veriyor. Pratikte en güçlü akış, pseudoinverse'in en küçük normlu satırına karşılık gelir. Bir faydası daha: en güvenilir kararı başta verince hata yayılımını da azaltıyoruz. Bu sezgisel kural yıllardır kullanılıyordu ama optimalliği ilk kez bu makalede ispatlandı.</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Bütün parçaları tek özyinelemeli algoritmada birleştirelim. Başlangıçta H'nin pseudoinverse'ini hesaplayıp en küçük normlu satırdan ilk akışı seçiyoruz. Döngü: nulling vektörünü al, karar istatistiğini hesapla, slice et, tahmini çıkar. Önemli adım: H'yi sönükleştiriyoruz — çözdüğümüz sütunu sıfırlayıp pseudoinverse'i yeniden hesaplıyoruz, çünkü o akış artık yok. Yeni matriste yine en küçük normlu satırı seçip devam ediyoruz. Bütün akışlar bitene kadar. Birkaç satır gibi görünse de bu, MIMO alıcısının kalbidir. Şimdi gerçekten çalışıyor mu, bakalım.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Makale sadece teori değil; gerçek bir prototip kurulmuş. 1.9 gigahertz'de, sekiz verici on iki alıcı antenle, gerçek ofis ortamında. Soldaki Şekil 2'de üstteki eğri saf nulling, alttaki nulling artı optimal sıralı iptal; aradaki fark yaklaşık dört desibel — bu konfigürasyonda neredeyse on bps/Hz'lik verimlilik farkı. Sağdaki Şekil 3, vericiyi farklı konumlara taşıdıklarında performansın gürbüz kaldığını gösteriyor. Sonuç: 20 ila 40 bps/Hz, sadece 30 kilohertz bantta 621 kilobit. Aynı verimliliği tek antenle elde etmek için milyarlarca noktalı bir takımyıldız gerekirdi. Şimdi bunu kendimiz doğrulayalım.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Makaledeki ortamı doğrulamak için her şeyi MATLAB'de sıfırdan, hiçbir hazır toolbox fonksiyonu kullanmadan kodladık: 16-QAM modülasyonu, kanal, gürültü, pseudoinverse, sıralı iptalli alıcı — hepsi elle. Parametreler makaleyle aynı: sekiz verici, on iki alıcı, 16-QAM, bağımsız Rayleigh kanal. Her SNR noktasında binlerce burst üretip Monte Carlo ile blok ve bit hata oranını ölçtük. Sırasıyla dört şey göstereceğim: ana karşılaştırma, sıralamanın etkisi, alıcı tipinin etkisi ve anten sayısının etkisi.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İşte ana sonucumuz, makaledeki Şekil 2'nin muadili. Yatay eksende SNR, dikey eksende hata oranı, logaritmik ölçekte. Üstteki saf nulling, alttaki V-BLAST. V-BLAST eğrisi yaklaşık dört desibel solda; ölçtüğümüz kazanç 4.4 desibel — makalenin yaklaşık dört desibeliyle neredeyse birebir aynı. V-BLAST'in eğimi de daha dik, çünkü her doğru kararla bir girişimi temizleyip sonrakini kolaylaştırıyor. Makalenin ana iddiasını kendi kodumuzla, sıfırdan doğruladık.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İkinci grafik makalenin en zarif sonucunu test ediyor: sıralama önemli mi? İki iptal stratejisini karşılaştırıyoruz. Üstteki eğri akışları sabit, gelişigüzel sırayla çözüyor; alttaki V-BLAST'in optimal sıralaması: her adımda en güçlü akışı önce çöz. Aradaki fark yaklaşık üç desibel. Bu, 'en iyiyi önce al' kuralının değerinin doğrudan kanıtı: en güvenilir kararlar başta verilince hata yayılımı azalıyor, en zayıf akışın SNR'ı yükseliyor. Makalenin matematiksel olarak ispatladığı maximin optimalliğini deneysel olarak görüyoruz.</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Son simülasyonda iki tasarım sorusu. Solda zorlu bir durum seçtim: alıcı anten sayısı verici sayısına eşit, N eşittir M eşittir sekiz, kare sistem. Bu durumda kanal kötü koşullu olur ve ZF gürültüyü ciddi büyütür; MMSE bit hata oranında ZF'ten yaklaşık üç desibel daha iyi, çünkü girişim ile gürültüyü birlikte dengeler. Sağda alıcı anten sayısının etkisi: M sabitken N'i on ikiden yirmiye çıkardığımızda performans belirgin iyileşiyor. Sebep çeşitleme: her fazladan alıcı anten ekstra serbestlik ve sönümlenmeye dayanıklılık getiriyor. Bu da V-BLAST'in neden N'i M'den büyük tuttuğunu açıklıyor.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Toparlayalım. V-BLAST'in dehası, vericiyi basit tutup tüm zekâyı alıcıya yüklemesinde: nulling ile ayır, sıralı iptal ile temizle, her zaman en güçlü akışı önce çöz. Böylece düşmanımız olan çok yollu yayılımı avantaja çevirip 20 ila 40 bps/Hz gibi görülmemiş verimliliklere ulaşıldı. Kendi sıfırdan yazdığımız MATLAB simülasyonu da bütün ana sonuçları doğruladı: V-BLAST nulling'i, sıralı sırasızı, MMSE ZF'i yendi ve anten sayısı arttıkça performans iyileşti. Ve bu akademik bir merak değil: bugünkü Wi-Fi, 4G ve 5G MIMO'sunun doğrudan temeli bu çalışma. Teşekkürler, sorularınızı alabilirim.</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 kaynaklar bunlar; özellikle Foschini'nin 1996 temel makalesi ve elimizdeki V-BLAST çalışması. Sorularınız için buradayım.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88920"/>
            <a:ext cx="12191695"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188720"/>
            <a:ext cx="10515600" cy="1645920"/>
          </a:xfrm>
          <a:prstGeom prst="rect">
            <a:avLst/>
          </a:prstGeom>
          <a:noFill/>
        </p:spPr>
        <p:txBody>
          <a:bodyPr wrap="square">
            <a:spAutoFit/>
          </a:bodyPr>
          <a:lstStyle/>
          <a:p>
            <a:pPr>
              <a:defRPr sz="5400" b="1">
                <a:solidFill>
                  <a:srgbClr val="FFFFFF"/>
                </a:solidFill>
              </a:defRPr>
            </a:pPr>
            <a:r>
              <a:t>V-BLAST</a:t>
            </a:r>
          </a:p>
          <a:p>
            <a:pPr>
              <a:defRPr sz="2400">
                <a:solidFill>
                  <a:srgbClr val="CFE0EC"/>
                </a:solidFill>
              </a:defRPr>
            </a:pPr>
            <a:r>
              <a:t>Zengin-Saçılımlı Kablosuz Kanalda Çok Yüksek Veri Hızları</a:t>
            </a:r>
          </a:p>
        </p:txBody>
      </p:sp>
      <p:sp>
        <p:nvSpPr>
          <p:cNvPr id="5" name="TextBox 4"/>
          <p:cNvSpPr txBox="1"/>
          <p:nvPr/>
        </p:nvSpPr>
        <p:spPr>
          <a:xfrm>
            <a:off x="822960" y="3108960"/>
            <a:ext cx="10515600" cy="2011680"/>
          </a:xfrm>
          <a:prstGeom prst="rect">
            <a:avLst/>
          </a:prstGeom>
          <a:noFill/>
        </p:spPr>
        <p:txBody>
          <a:bodyPr wrap="square">
            <a:spAutoFit/>
          </a:bodyPr>
          <a:lstStyle/>
          <a:p>
            <a:pPr>
              <a:defRPr sz="1800">
                <a:solidFill>
                  <a:srgbClr val="FFFFFF"/>
                </a:solidFill>
              </a:defRPr>
            </a:pPr>
            <a:r>
              <a:t>Wolniansky, Foschini, Golden, Valenzuela — Bell Labs, Lucent (1998)</a:t>
            </a:r>
          </a:p>
          <a:p>
            <a:pPr>
              <a:defRPr sz="1800">
                <a:solidFill>
                  <a:srgbClr val="BFD3E0"/>
                </a:solidFill>
              </a:defRPr>
            </a:pPr>
          </a:p>
          <a:p>
            <a:pPr>
              <a:defRPr sz="1800">
                <a:solidFill>
                  <a:srgbClr val="BFD3E0"/>
                </a:solidFill>
              </a:defRPr>
            </a:pPr>
            <a:r>
              <a:t>MIMO • Uzamsal Çoğullama • Nulling + Sıralı İptal</a:t>
            </a:r>
          </a:p>
          <a:p>
            <a:pPr>
              <a:defRPr sz="1800">
                <a:solidFill>
                  <a:srgbClr val="BFD3E0"/>
                </a:solidFill>
              </a:defRPr>
            </a:pPr>
            <a:r>
              <a:t>Makale incelemesi + MATLAB simülasyonu</a:t>
            </a:r>
          </a:p>
        </p:txBody>
      </p:sp>
      <p:sp>
        <p:nvSpPr>
          <p:cNvPr id="6" name="TextBox 5"/>
          <p:cNvSpPr txBox="1"/>
          <p:nvPr/>
        </p:nvSpPr>
        <p:spPr>
          <a:xfrm>
            <a:off x="822960" y="5852160"/>
            <a:ext cx="10515600" cy="457200"/>
          </a:xfrm>
          <a:prstGeom prst="rect">
            <a:avLst/>
          </a:prstGeom>
          <a:noFill/>
        </p:spPr>
        <p:txBody>
          <a:bodyPr wrap="none">
            <a:spAutoFit/>
          </a:bodyPr>
          <a:lstStyle/>
          <a:p>
            <a:pPr>
              <a:defRPr sz="1600">
                <a:solidFill>
                  <a:srgbClr val="9FB8C8"/>
                </a:solidFill>
              </a:defRPr>
            </a:pPr>
            <a:r>
              <a:t>Sunan: [İsim]  •  Tarih: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972800" cy="777240"/>
          </a:xfrm>
          <a:prstGeom prst="rect">
            <a:avLst/>
          </a:prstGeom>
          <a:noFill/>
        </p:spPr>
        <p:txBody>
          <a:bodyPr wrap="square" anchor="ctr">
            <a:spAutoFit/>
          </a:bodyPr>
          <a:lstStyle/>
          <a:p>
            <a:pPr>
              <a:defRPr sz="3000" b="1">
                <a:solidFill>
                  <a:srgbClr val="FFFFFF"/>
                </a:solidFill>
              </a:defRPr>
            </a:pPr>
            <a:r>
              <a:t>Sunum Akışı</a:t>
            </a:r>
          </a:p>
        </p:txBody>
      </p:sp>
      <p:sp>
        <p:nvSpPr>
          <p:cNvPr id="5" name="TextBox 4"/>
          <p:cNvSpPr txBox="1"/>
          <p:nvPr/>
        </p:nvSpPr>
        <p:spPr>
          <a:xfrm>
            <a:off x="11338560" y="6446520"/>
            <a:ext cx="731520" cy="320040"/>
          </a:xfrm>
          <a:prstGeom prst="rect">
            <a:avLst/>
          </a:prstGeom>
          <a:noFill/>
        </p:spPr>
        <p:txBody>
          <a:bodyPr wrap="none">
            <a:spAutoFit/>
          </a:bodyPr>
          <a:lstStyle/>
          <a:p>
            <a:pPr algn="r">
              <a:defRPr sz="1200">
                <a:solidFill>
                  <a:srgbClr val="5A6A78"/>
                </a:solidFill>
              </a:defRPr>
            </a:pPr>
            <a:r>
              <a:t>2</a:t>
            </a:r>
          </a:p>
        </p:txBody>
      </p:sp>
      <p:sp>
        <p:nvSpPr>
          <p:cNvPr id="6" name="TextBox 5"/>
          <p:cNvSpPr txBox="1"/>
          <p:nvPr/>
        </p:nvSpPr>
        <p:spPr>
          <a:xfrm>
            <a:off x="548640" y="1234440"/>
            <a:ext cx="11064240" cy="4937760"/>
          </a:xfrm>
          <a:prstGeom prst="rect">
            <a:avLst/>
          </a:prstGeom>
          <a:noFill/>
        </p:spPr>
        <p:txBody>
          <a:bodyPr wrap="square">
            <a:spAutoFit/>
          </a:bodyPr>
          <a:lstStyle/>
          <a:p>
            <a:pPr>
              <a:spcAft>
                <a:spcPts val="600"/>
              </a:spcAft>
              <a:defRPr sz="2000">
                <a:solidFill>
                  <a:srgbClr val="222A32"/>
                </a:solidFill>
              </a:defRPr>
            </a:pPr>
            <a:r>
              <a:t>•  Motivasyon &amp; temel kavramlar (SISO, kapasite)</a:t>
            </a:r>
          </a:p>
          <a:p>
            <a:pPr>
              <a:spcAft>
                <a:spcPts val="600"/>
              </a:spcAft>
              <a:defRPr sz="2000">
                <a:solidFill>
                  <a:srgbClr val="222A32"/>
                </a:solidFill>
              </a:defRPr>
            </a:pPr>
            <a:r>
              <a:t>•  MIMO ve çok antenin amaçları</a:t>
            </a:r>
          </a:p>
          <a:p>
            <a:pPr>
              <a:spcAft>
                <a:spcPts val="600"/>
              </a:spcAft>
              <a:defRPr sz="2000">
                <a:solidFill>
                  <a:srgbClr val="222A32"/>
                </a:solidFill>
              </a:defRPr>
            </a:pPr>
            <a:r>
              <a:t>•  Uzamsal çoğullama — kapasite avantajı</a:t>
            </a:r>
          </a:p>
          <a:p>
            <a:pPr>
              <a:spcAft>
                <a:spcPts val="600"/>
              </a:spcAft>
              <a:defRPr sz="2000">
                <a:solidFill>
                  <a:srgbClr val="222A32"/>
                </a:solidFill>
              </a:defRPr>
            </a:pPr>
            <a:r>
              <a:t>•  V-BLAST mimarisi ve sistem modeli</a:t>
            </a:r>
          </a:p>
          <a:p>
            <a:pPr>
              <a:spcAft>
                <a:spcPts val="600"/>
              </a:spcAft>
              <a:defRPr sz="2000">
                <a:solidFill>
                  <a:srgbClr val="222A32"/>
                </a:solidFill>
              </a:defRPr>
            </a:pPr>
            <a:r>
              <a:t>•  Alıcı: nulling + sıralı iptal (SIC)</a:t>
            </a:r>
          </a:p>
          <a:p>
            <a:pPr>
              <a:spcAft>
                <a:spcPts val="600"/>
              </a:spcAft>
              <a:defRPr sz="2000">
                <a:solidFill>
                  <a:srgbClr val="222A32"/>
                </a:solidFill>
              </a:defRPr>
            </a:pPr>
            <a:r>
              <a:t>•  Optimal sıralama (maximin)</a:t>
            </a:r>
          </a:p>
          <a:p>
            <a:pPr>
              <a:spcAft>
                <a:spcPts val="600"/>
              </a:spcAft>
              <a:defRPr sz="2000">
                <a:solidFill>
                  <a:srgbClr val="222A32"/>
                </a:solidFill>
              </a:defRPr>
            </a:pPr>
            <a:r>
              <a:t>•  Makale laboratuvar sonuçları</a:t>
            </a:r>
          </a:p>
          <a:p>
            <a:pPr>
              <a:spcAft>
                <a:spcPts val="600"/>
              </a:spcAft>
              <a:defRPr sz="2000">
                <a:solidFill>
                  <a:srgbClr val="222A32"/>
                </a:solidFill>
              </a:defRPr>
            </a:pPr>
            <a:r>
              <a:t>•  Kendi MATLAB simülasyonumuz (SIM-1/2/3)</a:t>
            </a:r>
          </a:p>
          <a:p>
            <a:pPr>
              <a:spcAft>
                <a:spcPts val="600"/>
              </a:spcAft>
              <a:defRPr sz="2000">
                <a:solidFill>
                  <a:srgbClr val="222A32"/>
                </a:solidFill>
              </a:defRPr>
            </a:pPr>
            <a:r>
              <a:t>•  Sonuç ve günümüze yansıması</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972800" cy="777240"/>
          </a:xfrm>
          <a:prstGeom prst="rect">
            <a:avLst/>
          </a:prstGeom>
          <a:noFill/>
        </p:spPr>
        <p:txBody>
          <a:bodyPr wrap="square" anchor="ctr">
            <a:spAutoFit/>
          </a:bodyPr>
          <a:lstStyle/>
          <a:p>
            <a:pPr>
              <a:defRPr sz="3000" b="1">
                <a:solidFill>
                  <a:srgbClr val="FFFFFF"/>
                </a:solidFill>
              </a:defRPr>
            </a:pPr>
            <a:r>
              <a:t>Motivasyon: Veri Talebi &amp; Spektrum Kıtlığı</a:t>
            </a:r>
          </a:p>
        </p:txBody>
      </p:sp>
      <p:sp>
        <p:nvSpPr>
          <p:cNvPr id="5" name="TextBox 4"/>
          <p:cNvSpPr txBox="1"/>
          <p:nvPr/>
        </p:nvSpPr>
        <p:spPr>
          <a:xfrm>
            <a:off x="11338560" y="6446520"/>
            <a:ext cx="731520" cy="320040"/>
          </a:xfrm>
          <a:prstGeom prst="rect">
            <a:avLst/>
          </a:prstGeom>
          <a:noFill/>
        </p:spPr>
        <p:txBody>
          <a:bodyPr wrap="none">
            <a:spAutoFit/>
          </a:bodyPr>
          <a:lstStyle/>
          <a:p>
            <a:pPr algn="r">
              <a:defRPr sz="1200">
                <a:solidFill>
                  <a:srgbClr val="5A6A78"/>
                </a:solidFill>
              </a:defRPr>
            </a:pPr>
            <a:r>
              <a:t>3</a:t>
            </a:r>
          </a:p>
        </p:txBody>
      </p:sp>
      <p:sp>
        <p:nvSpPr>
          <p:cNvPr id="6" name="TextBox 5"/>
          <p:cNvSpPr txBox="1"/>
          <p:nvPr/>
        </p:nvSpPr>
        <p:spPr>
          <a:xfrm>
            <a:off x="548640" y="1234440"/>
            <a:ext cx="11064240" cy="4937760"/>
          </a:xfrm>
          <a:prstGeom prst="rect">
            <a:avLst/>
          </a:prstGeom>
          <a:noFill/>
        </p:spPr>
        <p:txBody>
          <a:bodyPr wrap="square">
            <a:spAutoFit/>
          </a:bodyPr>
          <a:lstStyle/>
          <a:p>
            <a:pPr>
              <a:spcAft>
                <a:spcPts val="600"/>
              </a:spcAft>
              <a:defRPr sz="2000">
                <a:solidFill>
                  <a:srgbClr val="222A32"/>
                </a:solidFill>
              </a:defRPr>
            </a:pPr>
            <a:r>
              <a:t>•  Kablosuz veri talebi katlanarak artıyor</a:t>
            </a:r>
          </a:p>
          <a:p>
            <a:pPr>
              <a:spcAft>
                <a:spcPts val="600"/>
              </a:spcAft>
              <a:defRPr sz="2000">
                <a:solidFill>
                  <a:srgbClr val="222A32"/>
                </a:solidFill>
              </a:defRPr>
            </a:pPr>
            <a:r>
              <a:t>•  Frekans spektrumu kıt ve pahalı bir kaynak</a:t>
            </a:r>
          </a:p>
          <a:p>
            <a:pPr>
              <a:spcAft>
                <a:spcPts val="600"/>
              </a:spcAft>
              <a:defRPr sz="2000">
                <a:solidFill>
                  <a:srgbClr val="222A32"/>
                </a:solidFill>
              </a:defRPr>
            </a:pPr>
            <a:r>
              <a:t>•  Daha fazla bant → yok; daha fazla güç → verimsiz</a:t>
            </a:r>
          </a:p>
          <a:p>
            <a:pPr>
              <a:spcAft>
                <a:spcPts val="600"/>
              </a:spcAft>
              <a:defRPr sz="2000" b="1">
                <a:solidFill>
                  <a:srgbClr val="C0392B"/>
                </a:solidFill>
              </a:defRPr>
            </a:pPr>
            <a:r>
              <a:t>Asıl soru: Aynı spektrumla daha çok bit nasıl?</a:t>
            </a:r>
          </a:p>
          <a:p>
            <a:pPr>
              <a:spcAft>
                <a:spcPts val="600"/>
              </a:spcAft>
              <a:defRPr sz="2000">
                <a:solidFill>
                  <a:srgbClr val="222A32"/>
                </a:solidFill>
              </a:defRPr>
            </a:pPr>
            <a:r>
              <a:t>•  V-BLAST'in cevabı: çok yollu yayılımı (multipath) bir fırsata çevirmek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972800" cy="777240"/>
          </a:xfrm>
          <a:prstGeom prst="rect">
            <a:avLst/>
          </a:prstGeom>
          <a:noFill/>
        </p:spPr>
        <p:txBody>
          <a:bodyPr wrap="square" anchor="ctr">
            <a:spAutoFit/>
          </a:bodyPr>
          <a:lstStyle/>
          <a:p>
            <a:pPr>
              <a:defRPr sz="3000" b="1">
                <a:solidFill>
                  <a:srgbClr val="FFFFFF"/>
                </a:solidFill>
              </a:defRPr>
            </a:pPr>
            <a:r>
              <a:t>SISO ve Kablosuz Kanal</a:t>
            </a:r>
          </a:p>
        </p:txBody>
      </p:sp>
      <p:sp>
        <p:nvSpPr>
          <p:cNvPr id="5" name="TextBox 4"/>
          <p:cNvSpPr txBox="1"/>
          <p:nvPr/>
        </p:nvSpPr>
        <p:spPr>
          <a:xfrm>
            <a:off x="11338560" y="6446520"/>
            <a:ext cx="731520" cy="320040"/>
          </a:xfrm>
          <a:prstGeom prst="rect">
            <a:avLst/>
          </a:prstGeom>
          <a:noFill/>
        </p:spPr>
        <p:txBody>
          <a:bodyPr wrap="none">
            <a:spAutoFit/>
          </a:bodyPr>
          <a:lstStyle/>
          <a:p>
            <a:pPr algn="r">
              <a:defRPr sz="1200">
                <a:solidFill>
                  <a:srgbClr val="5A6A78"/>
                </a:solidFill>
              </a:defRPr>
            </a:pPr>
            <a:r>
              <a:t>4</a:t>
            </a:r>
          </a:p>
        </p:txBody>
      </p:sp>
      <p:sp>
        <p:nvSpPr>
          <p:cNvPr id="6" name="TextBox 5"/>
          <p:cNvSpPr txBox="1"/>
          <p:nvPr/>
        </p:nvSpPr>
        <p:spPr>
          <a:xfrm>
            <a:off x="548640" y="1234440"/>
            <a:ext cx="11064240" cy="4937760"/>
          </a:xfrm>
          <a:prstGeom prst="rect">
            <a:avLst/>
          </a:prstGeom>
          <a:noFill/>
        </p:spPr>
        <p:txBody>
          <a:bodyPr wrap="square">
            <a:spAutoFit/>
          </a:bodyPr>
          <a:lstStyle/>
          <a:p>
            <a:pPr>
              <a:spcAft>
                <a:spcPts val="600"/>
              </a:spcAft>
              <a:defRPr sz="2000">
                <a:solidFill>
                  <a:srgbClr val="222A32"/>
                </a:solidFill>
              </a:defRPr>
            </a:pPr>
            <a:r>
              <a:t>•  SISO = tek verici, tek alıcı anten</a:t>
            </a:r>
          </a:p>
          <a:p>
            <a:pPr>
              <a:spcAft>
                <a:spcPts val="600"/>
              </a:spcAft>
              <a:defRPr sz="2000">
                <a:solidFill>
                  <a:srgbClr val="222A32"/>
                </a:solidFill>
              </a:defRPr>
            </a:pPr>
            <a:r>
              <a:t>•  Kanalda: zayıflama + gürültü + çok yollu yayılım (multipath)</a:t>
            </a:r>
          </a:p>
          <a:p>
            <a:pPr>
              <a:spcAft>
                <a:spcPts val="600"/>
              </a:spcAft>
              <a:defRPr sz="2000">
                <a:solidFill>
                  <a:srgbClr val="222A32"/>
                </a:solidFill>
              </a:defRPr>
            </a:pPr>
            <a:r>
              <a:t>•  Multipath → sönümlenme (fading): sinyal gücü dalgalanır</a:t>
            </a:r>
          </a:p>
          <a:p>
            <a:pPr>
              <a:spcAft>
                <a:spcPts val="600"/>
              </a:spcAft>
              <a:defRPr sz="2000" b="1">
                <a:solidFill>
                  <a:srgbClr val="C0392B"/>
                </a:solidFill>
              </a:defRPr>
            </a:pPr>
            <a:r>
              <a:t>SISO'da multipath bir sorundur — sinyali bozar</a:t>
            </a:r>
          </a:p>
          <a:p>
            <a:pPr>
              <a:spcAft>
                <a:spcPts val="600"/>
              </a:spcAft>
              <a:defRPr sz="2000">
                <a:solidFill>
                  <a:srgbClr val="222A32"/>
                </a:solidFill>
              </a:defRPr>
            </a:pPr>
            <a:r>
              <a:t>•  Aklınızda tutun: MIMO bu bakışı tersine çevirecek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972800" cy="777240"/>
          </a:xfrm>
          <a:prstGeom prst="rect">
            <a:avLst/>
          </a:prstGeom>
          <a:noFill/>
        </p:spPr>
        <p:txBody>
          <a:bodyPr wrap="square" anchor="ctr">
            <a:spAutoFit/>
          </a:bodyPr>
          <a:lstStyle/>
          <a:p>
            <a:pPr>
              <a:defRPr sz="3000" b="1">
                <a:solidFill>
                  <a:srgbClr val="FFFFFF"/>
                </a:solidFill>
              </a:defRPr>
            </a:pPr>
            <a:r>
              <a:t>Kapasite Sorunu</a:t>
            </a:r>
          </a:p>
        </p:txBody>
      </p:sp>
      <p:sp>
        <p:nvSpPr>
          <p:cNvPr id="5" name="TextBox 4"/>
          <p:cNvSpPr txBox="1"/>
          <p:nvPr/>
        </p:nvSpPr>
        <p:spPr>
          <a:xfrm>
            <a:off x="11338560" y="6446520"/>
            <a:ext cx="731520" cy="320040"/>
          </a:xfrm>
          <a:prstGeom prst="rect">
            <a:avLst/>
          </a:prstGeom>
          <a:noFill/>
        </p:spPr>
        <p:txBody>
          <a:bodyPr wrap="none">
            <a:spAutoFit/>
          </a:bodyPr>
          <a:lstStyle/>
          <a:p>
            <a:pPr algn="r">
              <a:defRPr sz="1200">
                <a:solidFill>
                  <a:srgbClr val="5A6A78"/>
                </a:solidFill>
              </a:defRPr>
            </a:pPr>
            <a:r>
              <a:t>5</a:t>
            </a:r>
          </a:p>
        </p:txBody>
      </p:sp>
      <p:sp>
        <p:nvSpPr>
          <p:cNvPr id="6" name="TextBox 5"/>
          <p:cNvSpPr txBox="1"/>
          <p:nvPr/>
        </p:nvSpPr>
        <p:spPr>
          <a:xfrm>
            <a:off x="548640" y="1234440"/>
            <a:ext cx="11064240" cy="4937760"/>
          </a:xfrm>
          <a:prstGeom prst="rect">
            <a:avLst/>
          </a:prstGeom>
          <a:noFill/>
        </p:spPr>
        <p:txBody>
          <a:bodyPr wrap="square">
            <a:spAutoFit/>
          </a:bodyPr>
          <a:lstStyle/>
          <a:p>
            <a:pPr>
              <a:spcAft>
                <a:spcPts val="600"/>
              </a:spcAft>
              <a:defRPr sz="2000">
                <a:solidFill>
                  <a:srgbClr val="222A32"/>
                </a:solidFill>
              </a:defRPr>
            </a:pPr>
            <a:r>
              <a:t>•  Bir kanalın teorik hız sınırı: Shannon kapasitesi</a:t>
            </a:r>
          </a:p>
          <a:p>
            <a:pPr>
              <a:spcAft>
                <a:spcPts val="600"/>
              </a:spcAft>
              <a:defRPr sz="2000">
                <a:solidFill>
                  <a:srgbClr val="222A32"/>
                </a:solidFill>
              </a:defRPr>
            </a:pPr>
            <a:r>
              <a:t>•  Bant B kıt → artıramıyoruz</a:t>
            </a:r>
          </a:p>
          <a:p>
            <a:pPr>
              <a:spcAft>
                <a:spcPts val="600"/>
              </a:spcAft>
              <a:defRPr sz="2000">
                <a:solidFill>
                  <a:srgbClr val="222A32"/>
                </a:solidFill>
              </a:defRPr>
            </a:pPr>
            <a:r>
              <a:t>•  SNR logaritmanın içinde → gücü 2× yapmak kapasiteyi az artırır (verimsiz)</a:t>
            </a:r>
          </a:p>
          <a:p>
            <a:pPr>
              <a:spcAft>
                <a:spcPts val="600"/>
              </a:spcAft>
              <a:defRPr sz="2000" b="1">
                <a:solidFill>
                  <a:srgbClr val="C0392B"/>
                </a:solidFill>
              </a:defRPr>
            </a:pPr>
            <a:r>
              <a:t>Spektral verimlilik (bps/Hz) geleneksel sistemlerde tıkanır</a:t>
            </a:r>
          </a:p>
        </p:txBody>
      </p:sp>
      <p:sp>
        <p:nvSpPr>
          <p:cNvPr id="7" name="Rectangle 6"/>
          <p:cNvSpPr/>
          <p:nvPr/>
        </p:nvSpPr>
        <p:spPr>
          <a:xfrm>
            <a:off x="1280160" y="4206240"/>
            <a:ext cx="9601200" cy="886968"/>
          </a:xfrm>
          <a:prstGeom prst="rect">
            <a:avLst/>
          </a:prstGeom>
          <a:solidFill>
            <a:srgbClr val="F4F1E8"/>
          </a:solidFill>
          <a:ln w="12700">
            <a:solidFill>
              <a:srgbClr val="D9CEB0"/>
            </a:solidFill>
          </a:ln>
          <a:effectLst/>
        </p:spPr>
        <p:style>
          <a:lnRef idx="1">
            <a:schemeClr val="accent1"/>
          </a:lnRef>
          <a:fillRef idx="3">
            <a:schemeClr val="accent1"/>
          </a:fillRef>
          <a:effectRef idx="2">
            <a:schemeClr val="accent1"/>
          </a:effectRef>
          <a:fontRef idx="minor">
            <a:schemeClr val="lt1"/>
          </a:fontRef>
        </p:style>
        <p:txBody>
          <a:bodyPr rtlCol="0" anchor="ctr" wrap="square" tIns="101600" bIns="101600"/>
          <a:lstStyle/>
          <a:p>
            <a:pPr algn="ctr">
              <a:spcAft>
                <a:spcPts val="400"/>
              </a:spcAft>
              <a:defRPr sz="2000">
                <a:solidFill>
                  <a:srgbClr val="0B3D5C"/>
                </a:solidFill>
                <a:latin typeface="Consolas"/>
              </a:defRPr>
            </a:pPr>
            <a:r>
              <a:t>C  =  B · log₂(1 + SNR)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972800" cy="777240"/>
          </a:xfrm>
          <a:prstGeom prst="rect">
            <a:avLst/>
          </a:prstGeom>
          <a:noFill/>
        </p:spPr>
        <p:txBody>
          <a:bodyPr wrap="square" anchor="ctr">
            <a:spAutoFit/>
          </a:bodyPr>
          <a:lstStyle/>
          <a:p>
            <a:pPr>
              <a:defRPr sz="3000" b="1">
                <a:solidFill>
                  <a:srgbClr val="FFFFFF"/>
                </a:solidFill>
              </a:defRPr>
            </a:pPr>
            <a:r>
              <a:t>MIMO Nedir?</a:t>
            </a:r>
          </a:p>
        </p:txBody>
      </p:sp>
      <p:sp>
        <p:nvSpPr>
          <p:cNvPr id="5" name="TextBox 4"/>
          <p:cNvSpPr txBox="1"/>
          <p:nvPr/>
        </p:nvSpPr>
        <p:spPr>
          <a:xfrm>
            <a:off x="11338560" y="6446520"/>
            <a:ext cx="731520" cy="320040"/>
          </a:xfrm>
          <a:prstGeom prst="rect">
            <a:avLst/>
          </a:prstGeom>
          <a:noFill/>
        </p:spPr>
        <p:txBody>
          <a:bodyPr wrap="none">
            <a:spAutoFit/>
          </a:bodyPr>
          <a:lstStyle/>
          <a:p>
            <a:pPr algn="r">
              <a:defRPr sz="1200">
                <a:solidFill>
                  <a:srgbClr val="5A6A78"/>
                </a:solidFill>
              </a:defRPr>
            </a:pPr>
            <a:r>
              <a:t>6</a:t>
            </a:r>
          </a:p>
        </p:txBody>
      </p:sp>
      <p:sp>
        <p:nvSpPr>
          <p:cNvPr id="6" name="TextBox 5"/>
          <p:cNvSpPr txBox="1"/>
          <p:nvPr/>
        </p:nvSpPr>
        <p:spPr>
          <a:xfrm>
            <a:off x="548640" y="1234440"/>
            <a:ext cx="11064240" cy="4937760"/>
          </a:xfrm>
          <a:prstGeom prst="rect">
            <a:avLst/>
          </a:prstGeom>
          <a:noFill/>
        </p:spPr>
        <p:txBody>
          <a:bodyPr wrap="square">
            <a:spAutoFit/>
          </a:bodyPr>
          <a:lstStyle/>
          <a:p>
            <a:pPr>
              <a:spcAft>
                <a:spcPts val="600"/>
              </a:spcAft>
              <a:defRPr sz="2000">
                <a:solidFill>
                  <a:srgbClr val="222A32"/>
                </a:solidFill>
              </a:defRPr>
            </a:pPr>
            <a:r>
              <a:t>•  MIMO = M verici + N alıcı anten (M ≤ N)</a:t>
            </a:r>
          </a:p>
          <a:p>
            <a:pPr>
              <a:spcAft>
                <a:spcPts val="600"/>
              </a:spcAft>
              <a:defRPr sz="2000">
                <a:solidFill>
                  <a:srgbClr val="222A32"/>
                </a:solidFill>
              </a:defRPr>
            </a:pPr>
            <a:r>
              <a:t>•  Aynı frekansta, aynı anda, birden çok bağımsız akış</a:t>
            </a:r>
          </a:p>
          <a:p>
            <a:pPr>
              <a:spcAft>
                <a:spcPts val="600"/>
              </a:spcAft>
              <a:defRPr sz="2000">
                <a:solidFill>
                  <a:srgbClr val="222A32"/>
                </a:solidFill>
              </a:defRPr>
            </a:pPr>
            <a:r>
              <a:t>•  "Karışsınlar — yeter ki alıcıda ayıralım"</a:t>
            </a:r>
          </a:p>
          <a:p>
            <a:pPr>
              <a:spcAft>
                <a:spcPts val="600"/>
              </a:spcAft>
              <a:defRPr sz="2000">
                <a:solidFill>
                  <a:srgbClr val="222A32"/>
                </a:solidFill>
              </a:defRPr>
            </a:pPr>
            <a:r>
              <a:t>•  Kanal matrisi H'nin bağımsız sütunları → ayrıştırma mümkün</a:t>
            </a:r>
          </a:p>
          <a:p>
            <a:pPr>
              <a:spcAft>
                <a:spcPts val="600"/>
              </a:spcAft>
              <a:defRPr sz="2000" b="1">
                <a:solidFill>
                  <a:srgbClr val="C0392B"/>
                </a:solidFill>
              </a:defRPr>
            </a:pPr>
            <a:r>
              <a:t>Benzetme: yankılı odada 4 konuşmacı, farklı yerlerde 4 mikrofon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972800" cy="777240"/>
          </a:xfrm>
          <a:prstGeom prst="rect">
            <a:avLst/>
          </a:prstGeom>
          <a:noFill/>
        </p:spPr>
        <p:txBody>
          <a:bodyPr wrap="square" anchor="ctr">
            <a:spAutoFit/>
          </a:bodyPr>
          <a:lstStyle/>
          <a:p>
            <a:pPr>
              <a:defRPr sz="3000" b="1">
                <a:solidFill>
                  <a:srgbClr val="FFFFFF"/>
                </a:solidFill>
              </a:defRPr>
            </a:pPr>
            <a:r>
              <a:t>Çok Antenin ÜÇ Amacı</a:t>
            </a:r>
          </a:p>
        </p:txBody>
      </p:sp>
      <p:sp>
        <p:nvSpPr>
          <p:cNvPr id="5" name="TextBox 4"/>
          <p:cNvSpPr txBox="1"/>
          <p:nvPr/>
        </p:nvSpPr>
        <p:spPr>
          <a:xfrm>
            <a:off x="11338560" y="6446520"/>
            <a:ext cx="731520" cy="320040"/>
          </a:xfrm>
          <a:prstGeom prst="rect">
            <a:avLst/>
          </a:prstGeom>
          <a:noFill/>
        </p:spPr>
        <p:txBody>
          <a:bodyPr wrap="none">
            <a:spAutoFit/>
          </a:bodyPr>
          <a:lstStyle/>
          <a:p>
            <a:pPr algn="r">
              <a:defRPr sz="1200">
                <a:solidFill>
                  <a:srgbClr val="5A6A78"/>
                </a:solidFill>
              </a:defRPr>
            </a:pPr>
            <a:r>
              <a:t>7</a:t>
            </a:r>
          </a:p>
        </p:txBody>
      </p:sp>
      <p:sp>
        <p:nvSpPr>
          <p:cNvPr id="6" name="TextBox 5"/>
          <p:cNvSpPr txBox="1"/>
          <p:nvPr/>
        </p:nvSpPr>
        <p:spPr>
          <a:xfrm>
            <a:off x="548640" y="1234440"/>
            <a:ext cx="11064240" cy="4572000"/>
          </a:xfrm>
          <a:prstGeom prst="rect">
            <a:avLst/>
          </a:prstGeom>
          <a:noFill/>
        </p:spPr>
        <p:txBody>
          <a:bodyPr wrap="square">
            <a:spAutoFit/>
          </a:bodyPr>
          <a:lstStyle/>
          <a:p>
            <a:pPr>
              <a:spcAft>
                <a:spcPts val="600"/>
              </a:spcAft>
              <a:defRPr sz="1800" b="1">
                <a:solidFill>
                  <a:srgbClr val="C0392B"/>
                </a:solidFill>
              </a:defRPr>
            </a:pPr>
            <a:r>
              <a:t>1) Çeşitleme (Diversity) — GÜVENİLİRLİK için</a:t>
            </a:r>
          </a:p>
          <a:p>
            <a:pPr lvl="1">
              <a:spcAft>
                <a:spcPts val="600"/>
              </a:spcAft>
              <a:defRPr sz="1600">
                <a:solidFill>
                  <a:srgbClr val="222A32"/>
                </a:solidFill>
              </a:defRPr>
            </a:pPr>
            <a:r>
              <a:t>–  Aynı veriyi farklı bağımsız yollardan gönder/al → sönümlenmeye dayanıklılık</a:t>
            </a:r>
          </a:p>
          <a:p>
            <a:pPr lvl="1">
              <a:spcAft>
                <a:spcPts val="600"/>
              </a:spcAft>
              <a:defRPr sz="1600">
                <a:solidFill>
                  <a:srgbClr val="222A32"/>
                </a:solidFill>
              </a:defRPr>
            </a:pPr>
            <a:r>
              <a:t>–  RX diversity (MRC) ve TX diversity (Alamouti)</a:t>
            </a:r>
          </a:p>
          <a:p>
            <a:pPr>
              <a:spcAft>
                <a:spcPts val="600"/>
              </a:spcAft>
              <a:defRPr sz="1800" b="1">
                <a:solidFill>
                  <a:srgbClr val="C0392B"/>
                </a:solidFill>
              </a:defRPr>
            </a:pPr>
            <a:r>
              <a:t>2) Hüzmeleme (Beamforming) — SNR / KAPSAMA için</a:t>
            </a:r>
          </a:p>
          <a:p>
            <a:pPr lvl="1">
              <a:spcAft>
                <a:spcPts val="600"/>
              </a:spcAft>
              <a:defRPr sz="1600">
                <a:solidFill>
                  <a:srgbClr val="222A32"/>
                </a:solidFill>
              </a:defRPr>
            </a:pPr>
            <a:r>
              <a:t>–  Enerjiyi belirli yöne odakla; istenmeyen yöne null koy</a:t>
            </a:r>
          </a:p>
          <a:p>
            <a:pPr>
              <a:spcAft>
                <a:spcPts val="600"/>
              </a:spcAft>
              <a:defRPr sz="1800" b="1">
                <a:solidFill>
                  <a:srgbClr val="C0392B"/>
                </a:solidFill>
              </a:defRPr>
            </a:pPr>
            <a:r>
              <a:t>3) Uzamsal Çoğullama (SM) — HIZ için</a:t>
            </a:r>
          </a:p>
          <a:p>
            <a:pPr lvl="1">
              <a:spcAft>
                <a:spcPts val="600"/>
              </a:spcAft>
              <a:defRPr sz="1600">
                <a:solidFill>
                  <a:srgbClr val="222A32"/>
                </a:solidFill>
              </a:defRPr>
            </a:pPr>
            <a:r>
              <a:t>–  Farklı antenden farklı veri → hız anten sayısıyla katlanır</a:t>
            </a:r>
          </a:p>
          <a:p>
            <a:pPr lvl="1">
              <a:spcAft>
                <a:spcPts val="600"/>
              </a:spcAft>
              <a:defRPr sz="1600">
                <a:solidFill>
                  <a:srgbClr val="222A32"/>
                </a:solidFill>
              </a:defRPr>
            </a:pPr>
            <a:r>
              <a:t>–  ►  V-BLAST tam olarak BUDUR</a:t>
            </a:r>
          </a:p>
          <a:p>
            <a:pPr>
              <a:spcAft>
                <a:spcPts val="600"/>
              </a:spcAft>
              <a:defRPr sz="1800" b="1">
                <a:solidFill>
                  <a:srgbClr val="C0392B"/>
                </a:solidFill>
              </a:defRPr>
            </a:pPr>
            <a:r>
              <a:t>Ödünleşim: aynı antenler ya hıza ya güvenilirliğe (V-BLAST hıza odaklanır, N&gt;M ile biraz çeşitleme de kazanır)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972800" cy="777240"/>
          </a:xfrm>
          <a:prstGeom prst="rect">
            <a:avLst/>
          </a:prstGeom>
          <a:noFill/>
        </p:spPr>
        <p:txBody>
          <a:bodyPr wrap="square" anchor="ctr">
            <a:spAutoFit/>
          </a:bodyPr>
          <a:lstStyle/>
          <a:p>
            <a:pPr>
              <a:defRPr sz="3000" b="1">
                <a:solidFill>
                  <a:srgbClr val="FFFFFF"/>
                </a:solidFill>
              </a:defRPr>
            </a:pPr>
            <a:r>
              <a:t>Uzamsal Çoğullama &amp; Kapasite Avantajı</a:t>
            </a:r>
          </a:p>
        </p:txBody>
      </p:sp>
      <p:sp>
        <p:nvSpPr>
          <p:cNvPr id="5" name="TextBox 4"/>
          <p:cNvSpPr txBox="1"/>
          <p:nvPr/>
        </p:nvSpPr>
        <p:spPr>
          <a:xfrm>
            <a:off x="11338560" y="6446520"/>
            <a:ext cx="731520" cy="320040"/>
          </a:xfrm>
          <a:prstGeom prst="rect">
            <a:avLst/>
          </a:prstGeom>
          <a:noFill/>
        </p:spPr>
        <p:txBody>
          <a:bodyPr wrap="none">
            <a:spAutoFit/>
          </a:bodyPr>
          <a:lstStyle/>
          <a:p>
            <a:pPr algn="r">
              <a:defRPr sz="1200">
                <a:solidFill>
                  <a:srgbClr val="5A6A78"/>
                </a:solidFill>
              </a:defRPr>
            </a:pPr>
            <a:r>
              <a:t>8</a:t>
            </a:r>
          </a:p>
        </p:txBody>
      </p:sp>
      <p:sp>
        <p:nvSpPr>
          <p:cNvPr id="6" name="TextBox 5"/>
          <p:cNvSpPr txBox="1"/>
          <p:nvPr/>
        </p:nvSpPr>
        <p:spPr>
          <a:xfrm>
            <a:off x="548640" y="1234440"/>
            <a:ext cx="11064240" cy="4937760"/>
          </a:xfrm>
          <a:prstGeom prst="rect">
            <a:avLst/>
          </a:prstGeom>
          <a:noFill/>
        </p:spPr>
        <p:txBody>
          <a:bodyPr wrap="square">
            <a:spAutoFit/>
          </a:bodyPr>
          <a:lstStyle/>
          <a:p>
            <a:pPr>
              <a:spcAft>
                <a:spcPts val="600"/>
              </a:spcAft>
              <a:defRPr sz="2000">
                <a:solidFill>
                  <a:srgbClr val="222A32"/>
                </a:solidFill>
              </a:defRPr>
            </a:pPr>
            <a:r>
              <a:t>•  1 akışı M alt-akışa böl, ayrı antenlerden aynı anda gönder</a:t>
            </a:r>
          </a:p>
          <a:p>
            <a:pPr>
              <a:spcAft>
                <a:spcPts val="600"/>
              </a:spcAft>
              <a:defRPr sz="2000">
                <a:solidFill>
                  <a:srgbClr val="222A32"/>
                </a:solidFill>
              </a:defRPr>
            </a:pPr>
            <a:r>
              <a:t>•  Kapasite anten sayısı M ile DOĞRUSAL büyür</a:t>
            </a:r>
          </a:p>
          <a:p>
            <a:pPr>
              <a:spcAft>
                <a:spcPts val="600"/>
              </a:spcAft>
              <a:defRPr sz="2000">
                <a:solidFill>
                  <a:srgbClr val="222A32"/>
                </a:solidFill>
              </a:defRPr>
            </a:pPr>
            <a:r>
              <a:t>•  Ekstra bant veya ekstra güç GEREKMEZ</a:t>
            </a:r>
          </a:p>
          <a:p>
            <a:pPr>
              <a:spcAft>
                <a:spcPts val="600"/>
              </a:spcAft>
              <a:defRPr sz="2000" b="1">
                <a:solidFill>
                  <a:srgbClr val="C0392B"/>
                </a:solidFill>
              </a:defRPr>
            </a:pPr>
            <a:r>
              <a:t>V-BLAST = bu fikrin gerçek donanımda çalışan hali</a:t>
            </a:r>
          </a:p>
        </p:txBody>
      </p:sp>
      <p:sp>
        <p:nvSpPr>
          <p:cNvPr id="7" name="Rectangle 6"/>
          <p:cNvSpPr/>
          <p:nvPr/>
        </p:nvSpPr>
        <p:spPr>
          <a:xfrm>
            <a:off x="1280160" y="4297680"/>
            <a:ext cx="9601200" cy="1271016"/>
          </a:xfrm>
          <a:prstGeom prst="rect">
            <a:avLst/>
          </a:prstGeom>
          <a:solidFill>
            <a:srgbClr val="F4F1E8"/>
          </a:solidFill>
          <a:ln w="12700">
            <a:solidFill>
              <a:srgbClr val="D9CEB0"/>
            </a:solidFill>
          </a:ln>
          <a:effectLst/>
        </p:spPr>
        <p:style>
          <a:lnRef idx="1">
            <a:schemeClr val="accent1"/>
          </a:lnRef>
          <a:fillRef idx="3">
            <a:schemeClr val="accent1"/>
          </a:fillRef>
          <a:effectRef idx="2">
            <a:schemeClr val="accent1"/>
          </a:effectRef>
          <a:fontRef idx="minor">
            <a:schemeClr val="lt1"/>
          </a:fontRef>
        </p:style>
        <p:txBody>
          <a:bodyPr rtlCol="0" anchor="ctr" wrap="square" tIns="101600" bIns="101600"/>
          <a:lstStyle/>
          <a:p>
            <a:pPr algn="ctr">
              <a:spcAft>
                <a:spcPts val="400"/>
              </a:spcAft>
              <a:defRPr sz="2000">
                <a:solidFill>
                  <a:srgbClr val="0B3D5C"/>
                </a:solidFill>
                <a:latin typeface="Consolas"/>
              </a:defRPr>
            </a:pPr>
            <a:r>
              <a:t>C_MIMO  ≈  M · B · log₂(1 + SNR)</a:t>
            </a:r>
          </a:p>
          <a:p>
            <a:pPr algn="ctr">
              <a:spcAft>
                <a:spcPts val="400"/>
              </a:spcAft>
              <a:defRPr sz="2000">
                <a:solidFill>
                  <a:srgbClr val="0B3D5C"/>
                </a:solidFill>
                <a:latin typeface="Consolas"/>
              </a:defRPr>
            </a:pPr>
            <a:r>
              <a:t>1 anten → 1× ,   8 anten → ~8× kapasite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972800" cy="777240"/>
          </a:xfrm>
          <a:prstGeom prst="rect">
            <a:avLst/>
          </a:prstGeom>
          <a:noFill/>
        </p:spPr>
        <p:txBody>
          <a:bodyPr wrap="square" anchor="ctr">
            <a:spAutoFit/>
          </a:bodyPr>
          <a:lstStyle/>
          <a:p>
            <a:pPr>
              <a:defRPr sz="3000" b="1">
                <a:solidFill>
                  <a:srgbClr val="FFFFFF"/>
                </a:solidFill>
              </a:defRPr>
            </a:pPr>
            <a:r>
              <a:t>BLAST Ailesi: D-BLAST vs V-BLAST</a:t>
            </a:r>
          </a:p>
        </p:txBody>
      </p:sp>
      <p:sp>
        <p:nvSpPr>
          <p:cNvPr id="5" name="TextBox 4"/>
          <p:cNvSpPr txBox="1"/>
          <p:nvPr/>
        </p:nvSpPr>
        <p:spPr>
          <a:xfrm>
            <a:off x="11338560" y="6446520"/>
            <a:ext cx="731520" cy="320040"/>
          </a:xfrm>
          <a:prstGeom prst="rect">
            <a:avLst/>
          </a:prstGeom>
          <a:noFill/>
        </p:spPr>
        <p:txBody>
          <a:bodyPr wrap="none">
            <a:spAutoFit/>
          </a:bodyPr>
          <a:lstStyle/>
          <a:p>
            <a:pPr algn="r">
              <a:defRPr sz="1200">
                <a:solidFill>
                  <a:srgbClr val="5A6A78"/>
                </a:solidFill>
              </a:defRPr>
            </a:pPr>
            <a:r>
              <a:t>9</a:t>
            </a:r>
          </a:p>
        </p:txBody>
      </p:sp>
      <p:sp>
        <p:nvSpPr>
          <p:cNvPr id="6" name="TextBox 5"/>
          <p:cNvSpPr txBox="1"/>
          <p:nvPr/>
        </p:nvSpPr>
        <p:spPr>
          <a:xfrm>
            <a:off x="548640" y="1234440"/>
            <a:ext cx="11064240" cy="4937760"/>
          </a:xfrm>
          <a:prstGeom prst="rect">
            <a:avLst/>
          </a:prstGeom>
          <a:noFill/>
        </p:spPr>
        <p:txBody>
          <a:bodyPr wrap="square">
            <a:spAutoFit/>
          </a:bodyPr>
          <a:lstStyle/>
          <a:p>
            <a:pPr>
              <a:spcAft>
                <a:spcPts val="600"/>
              </a:spcAft>
              <a:defRPr sz="1900" b="1">
                <a:solidFill>
                  <a:srgbClr val="C0392B"/>
                </a:solidFill>
              </a:defRPr>
            </a:pPr>
            <a:r>
              <a:t>D-BLAST (Diagonal)</a:t>
            </a:r>
          </a:p>
          <a:p>
            <a:pPr lvl="1">
              <a:spcAft>
                <a:spcPts val="600"/>
              </a:spcAft>
              <a:defRPr sz="1700">
                <a:solidFill>
                  <a:srgbClr val="222A32"/>
                </a:solidFill>
              </a:defRPr>
            </a:pPr>
            <a:r>
              <a:t>–  Alt-akışlar arası çapraz kodlama; ~%90 Shannon</a:t>
            </a:r>
          </a:p>
          <a:p>
            <a:pPr lvl="1">
              <a:spcAft>
                <a:spcPts val="600"/>
              </a:spcAft>
              <a:defRPr sz="1700">
                <a:solidFill>
                  <a:srgbClr val="222A32"/>
                </a:solidFill>
              </a:defRPr>
            </a:pPr>
            <a:r>
              <a:t>–  Karmaşık → gerçek zamanlı uygulaması zor</a:t>
            </a:r>
          </a:p>
          <a:p>
            <a:pPr>
              <a:spcAft>
                <a:spcPts val="600"/>
              </a:spcAft>
              <a:defRPr sz="1900" b="1">
                <a:solidFill>
                  <a:srgbClr val="C0392B"/>
                </a:solidFill>
              </a:defRPr>
            </a:pPr>
            <a:r>
              <a:t>V-BLAST (Vertical)</a:t>
            </a:r>
          </a:p>
          <a:p>
            <a:pPr lvl="1">
              <a:spcAft>
                <a:spcPts val="600"/>
              </a:spcAft>
              <a:defRPr sz="1700">
                <a:solidFill>
                  <a:srgbClr val="222A32"/>
                </a:solidFill>
              </a:defRPr>
            </a:pPr>
            <a:r>
              <a:t>–  Kodlama YOK — sadece "böl ve gönder"</a:t>
            </a:r>
          </a:p>
          <a:p>
            <a:pPr lvl="1">
              <a:spcAft>
                <a:spcPts val="600"/>
              </a:spcAft>
              <a:defRPr sz="1700">
                <a:solidFill>
                  <a:srgbClr val="222A32"/>
                </a:solidFill>
              </a:defRPr>
            </a:pPr>
            <a:r>
              <a:t>–  Biraz düşük ama yüksek verim; GERÇEK ZAMANLI uygulandı</a:t>
            </a:r>
          </a:p>
          <a:p>
            <a:pPr>
              <a:spcAft>
                <a:spcPts val="600"/>
              </a:spcAft>
              <a:defRPr sz="1900" b="1">
                <a:solidFill>
                  <a:srgbClr val="C0392B"/>
                </a:solidFill>
              </a:defRPr>
            </a:pPr>
            <a:r>
              <a:t>V-BLAST'in çözdüğü problem: MIMO verimini PRATİK, çalışan bir alıcıyla elde etmek</a:t>
            </a:r>
          </a:p>
          <a:p>
            <a:pPr>
              <a:spcAft>
                <a:spcPts val="600"/>
              </a:spcAft>
              <a:defRPr sz="1900">
                <a:solidFill>
                  <a:srgbClr val="222A32"/>
                </a:solidFill>
              </a:defRPr>
            </a:pPr>
            <a:r>
              <a:t>•  Verici basit; tüm zekâ alıcıda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972800" cy="777240"/>
          </a:xfrm>
          <a:prstGeom prst="rect">
            <a:avLst/>
          </a:prstGeom>
          <a:noFill/>
        </p:spPr>
        <p:txBody>
          <a:bodyPr wrap="square" anchor="ctr">
            <a:spAutoFit/>
          </a:bodyPr>
          <a:lstStyle/>
          <a:p>
            <a:pPr>
              <a:defRPr sz="3000" b="1">
                <a:solidFill>
                  <a:srgbClr val="FFFFFF"/>
                </a:solidFill>
              </a:defRPr>
            </a:pPr>
            <a:r>
              <a:t>V-BLAST Sistem Mimarisi</a:t>
            </a:r>
          </a:p>
        </p:txBody>
      </p:sp>
      <p:sp>
        <p:nvSpPr>
          <p:cNvPr id="5" name="TextBox 4"/>
          <p:cNvSpPr txBox="1"/>
          <p:nvPr/>
        </p:nvSpPr>
        <p:spPr>
          <a:xfrm>
            <a:off x="11338560" y="6446520"/>
            <a:ext cx="731520" cy="320040"/>
          </a:xfrm>
          <a:prstGeom prst="rect">
            <a:avLst/>
          </a:prstGeom>
          <a:noFill/>
        </p:spPr>
        <p:txBody>
          <a:bodyPr wrap="none">
            <a:spAutoFit/>
          </a:bodyPr>
          <a:lstStyle/>
          <a:p>
            <a:pPr algn="r">
              <a:defRPr sz="1200">
                <a:solidFill>
                  <a:srgbClr val="5A6A78"/>
                </a:solidFill>
              </a:defRPr>
            </a:pPr>
            <a:r>
              <a:t>10</a:t>
            </a:r>
          </a:p>
        </p:txBody>
      </p:sp>
      <p:sp>
        <p:nvSpPr>
          <p:cNvPr id="6" name="TextBox 5"/>
          <p:cNvSpPr txBox="1"/>
          <p:nvPr/>
        </p:nvSpPr>
        <p:spPr>
          <a:xfrm>
            <a:off x="548640" y="1234440"/>
            <a:ext cx="11064240" cy="1371600"/>
          </a:xfrm>
          <a:prstGeom prst="rect">
            <a:avLst/>
          </a:prstGeom>
          <a:noFill/>
        </p:spPr>
        <p:txBody>
          <a:bodyPr wrap="square">
            <a:spAutoFit/>
          </a:bodyPr>
          <a:lstStyle/>
          <a:p>
            <a:pPr>
              <a:spcAft>
                <a:spcPts val="600"/>
              </a:spcAft>
              <a:defRPr sz="1800">
                <a:solidFill>
                  <a:srgbClr val="222A32"/>
                </a:solidFill>
              </a:defRPr>
            </a:pPr>
            <a:r>
              <a:t>•  Vektör kodlayıcı → M verici (her biri sıradan QAM) → zengin saçılma → N alıcı → V-BLAST işleme</a:t>
            </a:r>
          </a:p>
          <a:p>
            <a:pPr>
              <a:spcAft>
                <a:spcPts val="600"/>
              </a:spcAft>
              <a:defRPr sz="1800">
                <a:solidFill>
                  <a:srgbClr val="222A32"/>
                </a:solidFill>
              </a:defRPr>
            </a:pPr>
            <a:r>
              <a:t>•  Toplam güç sabit: her verici 1/M güçle yayın yapar</a:t>
            </a:r>
          </a:p>
        </p:txBody>
      </p:sp>
      <p:pic>
        <p:nvPicPr>
          <p:cNvPr id="7" name="Picture 6" descr="image_000000_14500e8161ff0d07ce1a71ed811d1a9916cfeb7af33ecd763324fcd4045f3784.png"/>
          <p:cNvPicPr>
            <a:picLocks noChangeAspect="1"/>
          </p:cNvPicPr>
          <p:nvPr/>
        </p:nvPicPr>
        <p:blipFill>
          <a:blip r:embed="rId2"/>
          <a:stretch>
            <a:fillRect/>
          </a:stretch>
        </p:blipFill>
        <p:spPr>
          <a:xfrm>
            <a:off x="2194560" y="2697480"/>
            <a:ext cx="7772400" cy="3840480"/>
          </a:xfrm>
          <a:prstGeom prst="rect">
            <a:avLst/>
          </a:prstGeom>
        </p:spPr>
      </p:pic>
      <p:sp>
        <p:nvSpPr>
          <p:cNvPr id="8" name="TextBox 7"/>
          <p:cNvSpPr txBox="1"/>
          <p:nvPr/>
        </p:nvSpPr>
        <p:spPr>
          <a:xfrm>
            <a:off x="2194560" y="6537960"/>
            <a:ext cx="7772400" cy="274320"/>
          </a:xfrm>
          <a:prstGeom prst="rect">
            <a:avLst/>
          </a:prstGeom>
          <a:noFill/>
        </p:spPr>
        <p:txBody>
          <a:bodyPr wrap="none">
            <a:spAutoFit/>
          </a:bodyPr>
          <a:lstStyle/>
          <a:p>
            <a:pPr algn="ctr">
              <a:defRPr sz="1200" i="1">
                <a:solidFill>
                  <a:srgbClr val="5A6A78"/>
                </a:solidFill>
              </a:defRPr>
            </a:pPr>
            <a:r>
              <a:t>Şekil 1 — V-BLAST yüksek seviye sistem diyagramı (makaleden)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972800" cy="777240"/>
          </a:xfrm>
          <a:prstGeom prst="rect">
            <a:avLst/>
          </a:prstGeom>
          <a:noFill/>
        </p:spPr>
        <p:txBody>
          <a:bodyPr wrap="square" anchor="ctr">
            <a:spAutoFit/>
          </a:bodyPr>
          <a:lstStyle/>
          <a:p>
            <a:pPr>
              <a:defRPr sz="3000" b="1">
                <a:solidFill>
                  <a:srgbClr val="FFFFFF"/>
                </a:solidFill>
              </a:defRPr>
            </a:pPr>
            <a:r>
              <a:t>Sistem Modeli &amp; Varsayımlar</a:t>
            </a:r>
          </a:p>
        </p:txBody>
      </p:sp>
      <p:sp>
        <p:nvSpPr>
          <p:cNvPr id="5" name="TextBox 4"/>
          <p:cNvSpPr txBox="1"/>
          <p:nvPr/>
        </p:nvSpPr>
        <p:spPr>
          <a:xfrm>
            <a:off x="11338560" y="6446520"/>
            <a:ext cx="731520" cy="320040"/>
          </a:xfrm>
          <a:prstGeom prst="rect">
            <a:avLst/>
          </a:prstGeom>
          <a:noFill/>
        </p:spPr>
        <p:txBody>
          <a:bodyPr wrap="none">
            <a:spAutoFit/>
          </a:bodyPr>
          <a:lstStyle/>
          <a:p>
            <a:pPr algn="r">
              <a:defRPr sz="1200">
                <a:solidFill>
                  <a:srgbClr val="5A6A78"/>
                </a:solidFill>
              </a:defRPr>
            </a:pPr>
            <a:r>
              <a:t>11</a:t>
            </a:r>
          </a:p>
        </p:txBody>
      </p:sp>
      <p:sp>
        <p:nvSpPr>
          <p:cNvPr id="6" name="TextBox 5"/>
          <p:cNvSpPr txBox="1"/>
          <p:nvPr/>
        </p:nvSpPr>
        <p:spPr>
          <a:xfrm>
            <a:off x="548640" y="1234440"/>
            <a:ext cx="11064240" cy="4937760"/>
          </a:xfrm>
          <a:prstGeom prst="rect">
            <a:avLst/>
          </a:prstGeom>
          <a:noFill/>
        </p:spPr>
        <p:txBody>
          <a:bodyPr wrap="square">
            <a:spAutoFit/>
          </a:bodyPr>
          <a:lstStyle/>
          <a:p>
            <a:pPr>
              <a:spcAft>
                <a:spcPts val="600"/>
              </a:spcAft>
              <a:defRPr sz="2000">
                <a:solidFill>
                  <a:srgbClr val="222A32"/>
                </a:solidFill>
              </a:defRPr>
            </a:pPr>
            <a:r>
              <a:t>•  a: gönderilen semboller (M×1) — bulmak istediğimiz</a:t>
            </a:r>
          </a:p>
          <a:p>
            <a:pPr>
              <a:spcAft>
                <a:spcPts val="600"/>
              </a:spcAft>
              <a:defRPr sz="2000">
                <a:solidFill>
                  <a:srgbClr val="222A32"/>
                </a:solidFill>
              </a:defRPr>
            </a:pPr>
            <a:r>
              <a:t>•  H: kanal matrisi (N×M) — eğitim dizisiyle tahmin edilir</a:t>
            </a:r>
          </a:p>
          <a:p>
            <a:pPr>
              <a:spcAft>
                <a:spcPts val="600"/>
              </a:spcAft>
              <a:defRPr sz="2000">
                <a:solidFill>
                  <a:srgbClr val="222A32"/>
                </a:solidFill>
              </a:defRPr>
            </a:pPr>
            <a:r>
              <a:t>•  r: alınan vektör (N×1) ,  ν: gürültü (varyans σ²)</a:t>
            </a:r>
          </a:p>
          <a:p>
            <a:pPr>
              <a:spcAft>
                <a:spcPts val="600"/>
              </a:spcAft>
              <a:defRPr sz="2000" b="1">
                <a:solidFill>
                  <a:srgbClr val="C0392B"/>
                </a:solidFill>
              </a:defRPr>
            </a:pPr>
            <a:r>
              <a:t>Flat fading, yarı-durağan kanal (burst boyunca sabit)</a:t>
            </a:r>
          </a:p>
          <a:p>
            <a:pPr>
              <a:spcAft>
                <a:spcPts val="600"/>
              </a:spcAft>
              <a:defRPr sz="2000">
                <a:solidFill>
                  <a:srgbClr val="222A32"/>
                </a:solidFill>
              </a:defRPr>
            </a:pPr>
            <a:r>
              <a:t>•  Problem: r ve H biliniyor → a'yı çöz (gürültü yüzünden basit değil)</a:t>
            </a:r>
          </a:p>
        </p:txBody>
      </p:sp>
      <p:sp>
        <p:nvSpPr>
          <p:cNvPr id="7" name="Rectangle 6"/>
          <p:cNvSpPr/>
          <p:nvPr/>
        </p:nvSpPr>
        <p:spPr>
          <a:xfrm>
            <a:off x="1280160" y="4754880"/>
            <a:ext cx="9601200" cy="886968"/>
          </a:xfrm>
          <a:prstGeom prst="rect">
            <a:avLst/>
          </a:prstGeom>
          <a:solidFill>
            <a:srgbClr val="F4F1E8"/>
          </a:solidFill>
          <a:ln w="12700">
            <a:solidFill>
              <a:srgbClr val="D9CEB0"/>
            </a:solidFill>
          </a:ln>
          <a:effectLst/>
        </p:spPr>
        <p:style>
          <a:lnRef idx="1">
            <a:schemeClr val="accent1"/>
          </a:lnRef>
          <a:fillRef idx="3">
            <a:schemeClr val="accent1"/>
          </a:fillRef>
          <a:effectRef idx="2">
            <a:schemeClr val="accent1"/>
          </a:effectRef>
          <a:fontRef idx="minor">
            <a:schemeClr val="lt1"/>
          </a:fontRef>
        </p:style>
        <p:txBody>
          <a:bodyPr rtlCol="0" anchor="ctr" wrap="square" tIns="101600" bIns="101600"/>
          <a:lstStyle/>
          <a:p>
            <a:pPr algn="ctr">
              <a:spcAft>
                <a:spcPts val="400"/>
              </a:spcAft>
              <a:defRPr sz="2000">
                <a:solidFill>
                  <a:srgbClr val="0B3D5C"/>
                </a:solidFill>
                <a:latin typeface="Consolas"/>
              </a:defRPr>
            </a:pPr>
            <a:r>
              <a:t>r  =  H · a  +  ν</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972800" cy="777240"/>
          </a:xfrm>
          <a:prstGeom prst="rect">
            <a:avLst/>
          </a:prstGeom>
          <a:noFill/>
        </p:spPr>
        <p:txBody>
          <a:bodyPr wrap="square" anchor="ctr">
            <a:spAutoFit/>
          </a:bodyPr>
          <a:lstStyle/>
          <a:p>
            <a:pPr>
              <a:defRPr sz="3000" b="1">
                <a:solidFill>
                  <a:srgbClr val="FFFFFF"/>
                </a:solidFill>
              </a:defRPr>
            </a:pPr>
            <a:r>
              <a:t>Detection &amp; Nulling (ZF / MMSE)</a:t>
            </a:r>
          </a:p>
        </p:txBody>
      </p:sp>
      <p:sp>
        <p:nvSpPr>
          <p:cNvPr id="5" name="TextBox 4"/>
          <p:cNvSpPr txBox="1"/>
          <p:nvPr/>
        </p:nvSpPr>
        <p:spPr>
          <a:xfrm>
            <a:off x="11338560" y="6446520"/>
            <a:ext cx="731520" cy="320040"/>
          </a:xfrm>
          <a:prstGeom prst="rect">
            <a:avLst/>
          </a:prstGeom>
          <a:noFill/>
        </p:spPr>
        <p:txBody>
          <a:bodyPr wrap="none">
            <a:spAutoFit/>
          </a:bodyPr>
          <a:lstStyle/>
          <a:p>
            <a:pPr algn="r">
              <a:defRPr sz="1200">
                <a:solidFill>
                  <a:srgbClr val="5A6A78"/>
                </a:solidFill>
              </a:defRPr>
            </a:pPr>
            <a:r>
              <a:t>12</a:t>
            </a:r>
          </a:p>
        </p:txBody>
      </p:sp>
      <p:sp>
        <p:nvSpPr>
          <p:cNvPr id="6" name="TextBox 5"/>
          <p:cNvSpPr txBox="1"/>
          <p:nvPr/>
        </p:nvSpPr>
        <p:spPr>
          <a:xfrm>
            <a:off x="548640" y="1234440"/>
            <a:ext cx="11064240" cy="4937760"/>
          </a:xfrm>
          <a:prstGeom prst="rect">
            <a:avLst/>
          </a:prstGeom>
          <a:noFill/>
        </p:spPr>
        <p:txBody>
          <a:bodyPr wrap="square">
            <a:spAutoFit/>
          </a:bodyPr>
          <a:lstStyle/>
          <a:p>
            <a:pPr>
              <a:spcAft>
                <a:spcPts val="600"/>
              </a:spcAft>
              <a:defRPr sz="2000">
                <a:solidFill>
                  <a:srgbClr val="222A32"/>
                </a:solidFill>
              </a:defRPr>
            </a:pPr>
            <a:r>
              <a:t>•  Her akışı sırayla "istenen", gerisini "girişim" say; w ile bastır</a:t>
            </a:r>
          </a:p>
          <a:p>
            <a:pPr>
              <a:spcAft>
                <a:spcPts val="600"/>
              </a:spcAft>
              <a:defRPr sz="2000">
                <a:solidFill>
                  <a:srgbClr val="222A32"/>
                </a:solidFill>
              </a:defRPr>
            </a:pPr>
            <a:r>
              <a:t>•  ZF (Zero-Forcing): diğerlerini tam sıfırlar — basit ama gürültüyü büyütür</a:t>
            </a:r>
          </a:p>
          <a:p>
            <a:pPr>
              <a:spcAft>
                <a:spcPts val="600"/>
              </a:spcAft>
              <a:defRPr sz="2000">
                <a:solidFill>
                  <a:srgbClr val="222A32"/>
                </a:solidFill>
              </a:defRPr>
            </a:pPr>
            <a:r>
              <a:t>•  MMSE: gürültü + girişimi birlikte dengeler — genelde daha iyi</a:t>
            </a:r>
          </a:p>
          <a:p>
            <a:pPr>
              <a:spcAft>
                <a:spcPts val="600"/>
              </a:spcAft>
              <a:defRPr sz="2000" b="1">
                <a:solidFill>
                  <a:srgbClr val="C0392B"/>
                </a:solidFill>
              </a:defRPr>
            </a:pPr>
            <a:r>
              <a:t>Karar istatistiği:  y_i = wᵢᵀ · r</a:t>
            </a:r>
          </a:p>
        </p:txBody>
      </p:sp>
      <p:sp>
        <p:nvSpPr>
          <p:cNvPr id="7" name="Rectangle 6"/>
          <p:cNvSpPr/>
          <p:nvPr/>
        </p:nvSpPr>
        <p:spPr>
          <a:xfrm>
            <a:off x="1280160" y="4663440"/>
            <a:ext cx="9601200" cy="886968"/>
          </a:xfrm>
          <a:prstGeom prst="rect">
            <a:avLst/>
          </a:prstGeom>
          <a:solidFill>
            <a:srgbClr val="F4F1E8"/>
          </a:solidFill>
          <a:ln w="12700">
            <a:solidFill>
              <a:srgbClr val="D9CEB0"/>
            </a:solidFill>
          </a:ln>
          <a:effectLst/>
        </p:spPr>
        <p:style>
          <a:lnRef idx="1">
            <a:schemeClr val="accent1"/>
          </a:lnRef>
          <a:fillRef idx="3">
            <a:schemeClr val="accent1"/>
          </a:fillRef>
          <a:effectRef idx="2">
            <a:schemeClr val="accent1"/>
          </a:effectRef>
          <a:fontRef idx="minor">
            <a:schemeClr val="lt1"/>
          </a:fontRef>
        </p:style>
        <p:txBody>
          <a:bodyPr rtlCol="0" anchor="ctr" wrap="square" tIns="101600" bIns="101600"/>
          <a:lstStyle/>
          <a:p>
            <a:pPr algn="ctr">
              <a:spcAft>
                <a:spcPts val="400"/>
              </a:spcAft>
              <a:defRPr sz="2000">
                <a:solidFill>
                  <a:srgbClr val="0B3D5C"/>
                </a:solidFill>
                <a:latin typeface="Consolas"/>
              </a:defRPr>
            </a:pPr>
            <a:r>
              <a:t>ZF koşulu:   wᵢᵀ · (H)ⱼ  =  δᵢⱼ      (i=j → 1 ,  i≠j → 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972800" cy="777240"/>
          </a:xfrm>
          <a:prstGeom prst="rect">
            <a:avLst/>
          </a:prstGeom>
          <a:noFill/>
        </p:spPr>
        <p:txBody>
          <a:bodyPr wrap="square" anchor="ctr">
            <a:spAutoFit/>
          </a:bodyPr>
          <a:lstStyle/>
          <a:p>
            <a:pPr>
              <a:defRPr sz="3000" b="1">
                <a:solidFill>
                  <a:srgbClr val="FFFFFF"/>
                </a:solidFill>
              </a:defRPr>
            </a:pPr>
            <a:r>
              <a:t>Sembol İptali (SIC): Adım Adım</a:t>
            </a:r>
          </a:p>
        </p:txBody>
      </p:sp>
      <p:sp>
        <p:nvSpPr>
          <p:cNvPr id="5" name="TextBox 4"/>
          <p:cNvSpPr txBox="1"/>
          <p:nvPr/>
        </p:nvSpPr>
        <p:spPr>
          <a:xfrm>
            <a:off x="11338560" y="6446520"/>
            <a:ext cx="731520" cy="320040"/>
          </a:xfrm>
          <a:prstGeom prst="rect">
            <a:avLst/>
          </a:prstGeom>
          <a:noFill/>
        </p:spPr>
        <p:txBody>
          <a:bodyPr wrap="none">
            <a:spAutoFit/>
          </a:bodyPr>
          <a:lstStyle/>
          <a:p>
            <a:pPr algn="r">
              <a:defRPr sz="1200">
                <a:solidFill>
                  <a:srgbClr val="5A6A78"/>
                </a:solidFill>
              </a:defRPr>
            </a:pPr>
            <a:r>
              <a:t>13</a:t>
            </a:r>
          </a:p>
        </p:txBody>
      </p:sp>
      <p:sp>
        <p:nvSpPr>
          <p:cNvPr id="6" name="TextBox 5"/>
          <p:cNvSpPr txBox="1"/>
          <p:nvPr/>
        </p:nvSpPr>
        <p:spPr>
          <a:xfrm>
            <a:off x="548640" y="1234440"/>
            <a:ext cx="11064240" cy="4937760"/>
          </a:xfrm>
          <a:prstGeom prst="rect">
            <a:avLst/>
          </a:prstGeom>
          <a:noFill/>
        </p:spPr>
        <p:txBody>
          <a:bodyPr wrap="square">
            <a:spAutoFit/>
          </a:bodyPr>
          <a:lstStyle/>
          <a:p>
            <a:pPr>
              <a:spcAft>
                <a:spcPts val="600"/>
              </a:spcAft>
              <a:defRPr sz="2000" b="1">
                <a:solidFill>
                  <a:srgbClr val="C0392B"/>
                </a:solidFill>
              </a:defRPr>
            </a:pPr>
            <a:r>
              <a:t>Döngü (her akış için):</a:t>
            </a:r>
          </a:p>
          <a:p>
            <a:pPr lvl="1">
              <a:spcAft>
                <a:spcPts val="600"/>
              </a:spcAft>
              <a:defRPr sz="1800">
                <a:solidFill>
                  <a:srgbClr val="222A32"/>
                </a:solidFill>
              </a:defRPr>
            </a:pPr>
            <a:r>
              <a:t>–  1) Nulling → karar istatistiği y</a:t>
            </a:r>
          </a:p>
          <a:p>
            <a:pPr lvl="1">
              <a:spcAft>
                <a:spcPts val="600"/>
              </a:spcAft>
              <a:defRPr sz="1800">
                <a:solidFill>
                  <a:srgbClr val="222A32"/>
                </a:solidFill>
              </a:defRPr>
            </a:pPr>
            <a:r>
              <a:t>–  2) Slice:  â = Q(y)  (en yakın QAM noktası)</a:t>
            </a:r>
          </a:p>
          <a:p>
            <a:pPr lvl="1">
              <a:spcAft>
                <a:spcPts val="600"/>
              </a:spcAft>
              <a:defRPr sz="1800">
                <a:solidFill>
                  <a:srgbClr val="222A32"/>
                </a:solidFill>
              </a:defRPr>
            </a:pPr>
            <a:r>
              <a:t>–  3) Cancel: çözülen sembolü sinyalden çıkar</a:t>
            </a:r>
          </a:p>
          <a:p>
            <a:pPr lvl="1">
              <a:spcAft>
                <a:spcPts val="600"/>
              </a:spcAft>
              <a:defRPr sz="1800">
                <a:solidFill>
                  <a:srgbClr val="222A32"/>
                </a:solidFill>
              </a:defRPr>
            </a:pPr>
            <a:r>
              <a:t>–  4) Kalan akışlar için tekrarla</a:t>
            </a:r>
          </a:p>
          <a:p>
            <a:pPr>
              <a:spcAft>
                <a:spcPts val="600"/>
              </a:spcAft>
              <a:defRPr sz="2000" b="1">
                <a:solidFill>
                  <a:srgbClr val="C0392B"/>
                </a:solidFill>
              </a:defRPr>
            </a:pPr>
            <a:r>
              <a:t>Her turda bir girişim daha az → problem küçülür (DFE'ye benzer)</a:t>
            </a:r>
          </a:p>
        </p:txBody>
      </p:sp>
      <p:sp>
        <p:nvSpPr>
          <p:cNvPr id="7" name="Rectangle 6"/>
          <p:cNvSpPr/>
          <p:nvPr/>
        </p:nvSpPr>
        <p:spPr>
          <a:xfrm>
            <a:off x="1280160" y="4754880"/>
            <a:ext cx="9601200" cy="886968"/>
          </a:xfrm>
          <a:prstGeom prst="rect">
            <a:avLst/>
          </a:prstGeom>
          <a:solidFill>
            <a:srgbClr val="F4F1E8"/>
          </a:solidFill>
          <a:ln w="12700">
            <a:solidFill>
              <a:srgbClr val="D9CEB0"/>
            </a:solidFill>
          </a:ln>
          <a:effectLst/>
        </p:spPr>
        <p:style>
          <a:lnRef idx="1">
            <a:schemeClr val="accent1"/>
          </a:lnRef>
          <a:fillRef idx="3">
            <a:schemeClr val="accent1"/>
          </a:fillRef>
          <a:effectRef idx="2">
            <a:schemeClr val="accent1"/>
          </a:effectRef>
          <a:fontRef idx="minor">
            <a:schemeClr val="lt1"/>
          </a:fontRef>
        </p:style>
        <p:txBody>
          <a:bodyPr rtlCol="0" anchor="ctr" wrap="square" tIns="101600" bIns="101600"/>
          <a:lstStyle/>
          <a:p>
            <a:pPr algn="ctr">
              <a:spcAft>
                <a:spcPts val="400"/>
              </a:spcAft>
              <a:defRPr sz="2000">
                <a:solidFill>
                  <a:srgbClr val="0B3D5C"/>
                </a:solidFill>
                <a:latin typeface="Consolas"/>
              </a:defRPr>
            </a:pPr>
            <a:r>
              <a:t>r_{i+1}  =  r_i  −  â_{k_i} · (H)_{k_i}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972800" cy="777240"/>
          </a:xfrm>
          <a:prstGeom prst="rect">
            <a:avLst/>
          </a:prstGeom>
          <a:noFill/>
        </p:spPr>
        <p:txBody>
          <a:bodyPr wrap="square" anchor="ctr">
            <a:spAutoFit/>
          </a:bodyPr>
          <a:lstStyle/>
          <a:p>
            <a:pPr>
              <a:defRPr sz="3000" b="1">
                <a:solidFill>
                  <a:srgbClr val="FFFFFF"/>
                </a:solidFill>
              </a:defRPr>
            </a:pPr>
            <a:r>
              <a:t>Neden İptal Daha İyi?</a:t>
            </a:r>
          </a:p>
        </p:txBody>
      </p:sp>
      <p:sp>
        <p:nvSpPr>
          <p:cNvPr id="5" name="TextBox 4"/>
          <p:cNvSpPr txBox="1"/>
          <p:nvPr/>
        </p:nvSpPr>
        <p:spPr>
          <a:xfrm>
            <a:off x="11338560" y="6446520"/>
            <a:ext cx="731520" cy="320040"/>
          </a:xfrm>
          <a:prstGeom prst="rect">
            <a:avLst/>
          </a:prstGeom>
          <a:noFill/>
        </p:spPr>
        <p:txBody>
          <a:bodyPr wrap="none">
            <a:spAutoFit/>
          </a:bodyPr>
          <a:lstStyle/>
          <a:p>
            <a:pPr algn="r">
              <a:defRPr sz="1200">
                <a:solidFill>
                  <a:srgbClr val="5A6A78"/>
                </a:solidFill>
              </a:defRPr>
            </a:pPr>
            <a:r>
              <a:t>14</a:t>
            </a:r>
          </a:p>
        </p:txBody>
      </p:sp>
      <p:sp>
        <p:nvSpPr>
          <p:cNvPr id="6" name="TextBox 5"/>
          <p:cNvSpPr txBox="1"/>
          <p:nvPr/>
        </p:nvSpPr>
        <p:spPr>
          <a:xfrm>
            <a:off x="548640" y="1234440"/>
            <a:ext cx="11064240" cy="4937760"/>
          </a:xfrm>
          <a:prstGeom prst="rect">
            <a:avLst/>
          </a:prstGeom>
          <a:noFill/>
        </p:spPr>
        <p:txBody>
          <a:bodyPr wrap="square">
            <a:spAutoFit/>
          </a:bodyPr>
          <a:lstStyle/>
          <a:p>
            <a:pPr>
              <a:spcAft>
                <a:spcPts val="600"/>
              </a:spcAft>
              <a:defRPr sz="2000">
                <a:solidFill>
                  <a:srgbClr val="222A32"/>
                </a:solidFill>
              </a:defRPr>
            </a:pPr>
            <a:r>
              <a:t>•  Saf nulling: her w, M−1 akışa ortogonal olmalı (ağır kısıt)</a:t>
            </a:r>
          </a:p>
          <a:p>
            <a:pPr>
              <a:spcAft>
                <a:spcPts val="600"/>
              </a:spcAft>
              <a:defRPr sz="2000">
                <a:solidFill>
                  <a:srgbClr val="222A32"/>
                </a:solidFill>
              </a:defRPr>
            </a:pPr>
            <a:r>
              <a:t>•  İptal ile: w yalnızca KALAN akışlara ortogonal (az kısıt)</a:t>
            </a:r>
          </a:p>
          <a:p>
            <a:pPr>
              <a:spcAft>
                <a:spcPts val="600"/>
              </a:spcAft>
              <a:defRPr sz="2000">
                <a:solidFill>
                  <a:srgbClr val="222A32"/>
                </a:solidFill>
              </a:defRPr>
            </a:pPr>
            <a:r>
              <a:t>•  Cauchy-Schwarz: çok kısıt → büyük ‖w‖</a:t>
            </a:r>
          </a:p>
          <a:p>
            <a:pPr>
              <a:spcAft>
                <a:spcPts val="600"/>
              </a:spcAft>
              <a:defRPr sz="2000" b="1">
                <a:solidFill>
                  <a:srgbClr val="C0392B"/>
                </a:solidFill>
              </a:defRPr>
            </a:pPr>
            <a:r>
              <a:t>Küçük norm = yüksek SNR → daha az hata</a:t>
            </a:r>
          </a:p>
        </p:txBody>
      </p:sp>
      <p:sp>
        <p:nvSpPr>
          <p:cNvPr id="7" name="Rectangle 6"/>
          <p:cNvSpPr/>
          <p:nvPr/>
        </p:nvSpPr>
        <p:spPr>
          <a:xfrm>
            <a:off x="1280160" y="4663440"/>
            <a:ext cx="9601200" cy="886968"/>
          </a:xfrm>
          <a:prstGeom prst="rect">
            <a:avLst/>
          </a:prstGeom>
          <a:solidFill>
            <a:srgbClr val="F4F1E8"/>
          </a:solidFill>
          <a:ln w="12700">
            <a:solidFill>
              <a:srgbClr val="D9CEB0"/>
            </a:solidFill>
          </a:ln>
          <a:effectLst/>
        </p:spPr>
        <p:style>
          <a:lnRef idx="1">
            <a:schemeClr val="accent1"/>
          </a:lnRef>
          <a:fillRef idx="3">
            <a:schemeClr val="accent1"/>
          </a:fillRef>
          <a:effectRef idx="2">
            <a:schemeClr val="accent1"/>
          </a:effectRef>
          <a:fontRef idx="minor">
            <a:schemeClr val="lt1"/>
          </a:fontRef>
        </p:style>
        <p:txBody>
          <a:bodyPr rtlCol="0" anchor="ctr" wrap="square" tIns="101600" bIns="101600"/>
          <a:lstStyle/>
          <a:p>
            <a:pPr algn="ctr">
              <a:spcAft>
                <a:spcPts val="400"/>
              </a:spcAft>
              <a:defRPr sz="2000">
                <a:solidFill>
                  <a:srgbClr val="0B3D5C"/>
                </a:solidFill>
                <a:latin typeface="Consolas"/>
              </a:defRPr>
            </a:pPr>
            <a:r>
              <a:t>ρ_{k_i}  =  ⟨|a_{k_i}|²⟩ / ( σ² · ‖w_{k_i}‖²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972800" cy="777240"/>
          </a:xfrm>
          <a:prstGeom prst="rect">
            <a:avLst/>
          </a:prstGeom>
          <a:noFill/>
        </p:spPr>
        <p:txBody>
          <a:bodyPr wrap="square" anchor="ctr">
            <a:spAutoFit/>
          </a:bodyPr>
          <a:lstStyle/>
          <a:p>
            <a:pPr>
              <a:defRPr sz="3000" b="1">
                <a:solidFill>
                  <a:srgbClr val="FFFFFF"/>
                </a:solidFill>
              </a:defRPr>
            </a:pPr>
            <a:r>
              <a:t>Optimal Sıralama: "En İyiyi Önce Al"</a:t>
            </a:r>
          </a:p>
        </p:txBody>
      </p:sp>
      <p:sp>
        <p:nvSpPr>
          <p:cNvPr id="5" name="TextBox 4"/>
          <p:cNvSpPr txBox="1"/>
          <p:nvPr/>
        </p:nvSpPr>
        <p:spPr>
          <a:xfrm>
            <a:off x="11338560" y="6446520"/>
            <a:ext cx="731520" cy="320040"/>
          </a:xfrm>
          <a:prstGeom prst="rect">
            <a:avLst/>
          </a:prstGeom>
          <a:noFill/>
        </p:spPr>
        <p:txBody>
          <a:bodyPr wrap="none">
            <a:spAutoFit/>
          </a:bodyPr>
          <a:lstStyle/>
          <a:p>
            <a:pPr algn="r">
              <a:defRPr sz="1200">
                <a:solidFill>
                  <a:srgbClr val="5A6A78"/>
                </a:solidFill>
              </a:defRPr>
            </a:pPr>
            <a:r>
              <a:t>15</a:t>
            </a:r>
          </a:p>
        </p:txBody>
      </p:sp>
      <p:sp>
        <p:nvSpPr>
          <p:cNvPr id="6" name="TextBox 5"/>
          <p:cNvSpPr txBox="1"/>
          <p:nvPr/>
        </p:nvSpPr>
        <p:spPr>
          <a:xfrm>
            <a:off x="548640" y="1234440"/>
            <a:ext cx="11064240" cy="4937760"/>
          </a:xfrm>
          <a:prstGeom prst="rect">
            <a:avLst/>
          </a:prstGeom>
          <a:noFill/>
        </p:spPr>
        <p:txBody>
          <a:bodyPr wrap="square">
            <a:spAutoFit/>
          </a:bodyPr>
          <a:lstStyle/>
          <a:p>
            <a:pPr>
              <a:spcAft>
                <a:spcPts val="600"/>
              </a:spcAft>
              <a:defRPr sz="2000">
                <a:solidFill>
                  <a:srgbClr val="222A32"/>
                </a:solidFill>
              </a:defRPr>
            </a:pPr>
            <a:r>
              <a:t>•  İptalde SIRA önemli (saf nulling'de değil)</a:t>
            </a:r>
          </a:p>
          <a:p>
            <a:pPr>
              <a:spcAft>
                <a:spcPts val="600"/>
              </a:spcAft>
              <a:defRPr sz="2000">
                <a:solidFill>
                  <a:srgbClr val="222A32"/>
                </a:solidFill>
              </a:defRPr>
            </a:pPr>
            <a:r>
              <a:t>•  En zayıf akış hatayı belirler → hedef: minimumu maksimize et (maximin)</a:t>
            </a:r>
          </a:p>
          <a:p>
            <a:pPr>
              <a:spcAft>
                <a:spcPts val="600"/>
              </a:spcAft>
              <a:defRPr sz="2000" b="1">
                <a:solidFill>
                  <a:srgbClr val="C0392B"/>
                </a:solidFill>
              </a:defRPr>
            </a:pPr>
            <a:r>
              <a:t>Şaşırtıcı sonuç: her adımda en güçlü akışı seçmek → KÜRESEL optimum</a:t>
            </a:r>
          </a:p>
          <a:p>
            <a:pPr>
              <a:spcAft>
                <a:spcPts val="600"/>
              </a:spcAft>
              <a:defRPr sz="2000">
                <a:solidFill>
                  <a:srgbClr val="222A32"/>
                </a:solidFill>
              </a:defRPr>
            </a:pPr>
            <a:r>
              <a:t>•  En güvenilir kararı başta ver → hata yayılımı azalır</a:t>
            </a:r>
          </a:p>
          <a:p>
            <a:pPr>
              <a:spcAft>
                <a:spcPts val="600"/>
              </a:spcAft>
              <a:defRPr sz="2000">
                <a:solidFill>
                  <a:srgbClr val="222A32"/>
                </a:solidFill>
              </a:defRPr>
            </a:pPr>
            <a:r>
              <a:t>•  Optimalliği ilk kez bu makalede ispatlandı</a:t>
            </a:r>
          </a:p>
        </p:txBody>
      </p:sp>
      <p:sp>
        <p:nvSpPr>
          <p:cNvPr id="7" name="Rectangle 6"/>
          <p:cNvSpPr/>
          <p:nvPr/>
        </p:nvSpPr>
        <p:spPr>
          <a:xfrm>
            <a:off x="1280160" y="4846320"/>
            <a:ext cx="9601200" cy="886968"/>
          </a:xfrm>
          <a:prstGeom prst="rect">
            <a:avLst/>
          </a:prstGeom>
          <a:solidFill>
            <a:srgbClr val="F4F1E8"/>
          </a:solidFill>
          <a:ln w="12700">
            <a:solidFill>
              <a:srgbClr val="D9CEB0"/>
            </a:solidFill>
          </a:ln>
          <a:effectLst/>
        </p:spPr>
        <p:style>
          <a:lnRef idx="1">
            <a:schemeClr val="accent1"/>
          </a:lnRef>
          <a:fillRef idx="3">
            <a:schemeClr val="accent1"/>
          </a:fillRef>
          <a:effectRef idx="2">
            <a:schemeClr val="accent1"/>
          </a:effectRef>
          <a:fontRef idx="minor">
            <a:schemeClr val="lt1"/>
          </a:fontRef>
        </p:style>
        <p:txBody>
          <a:bodyPr rtlCol="0" anchor="ctr" wrap="square" tIns="101600" bIns="101600"/>
          <a:lstStyle/>
          <a:p>
            <a:pPr algn="ctr">
              <a:spcAft>
                <a:spcPts val="400"/>
              </a:spcAft>
              <a:defRPr sz="2000">
                <a:solidFill>
                  <a:srgbClr val="0B3D5C"/>
                </a:solidFill>
                <a:latin typeface="Consolas"/>
              </a:defRPr>
            </a:pPr>
            <a:r>
              <a:t>k_i  =  arg min_j  ‖ (G_i)_j ‖²     (en küçük normlu satır)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972800" cy="777240"/>
          </a:xfrm>
          <a:prstGeom prst="rect">
            <a:avLst/>
          </a:prstGeom>
          <a:noFill/>
        </p:spPr>
        <p:txBody>
          <a:bodyPr wrap="square" anchor="ctr">
            <a:spAutoFit/>
          </a:bodyPr>
          <a:lstStyle/>
          <a:p>
            <a:pPr>
              <a:defRPr sz="3000" b="1">
                <a:solidFill>
                  <a:srgbClr val="FFFFFF"/>
                </a:solidFill>
              </a:defRPr>
            </a:pPr>
            <a:r>
              <a:t>Tam Algoritma (Özyinelemeli) — Eq. (9)</a:t>
            </a:r>
          </a:p>
        </p:txBody>
      </p:sp>
      <p:sp>
        <p:nvSpPr>
          <p:cNvPr id="5" name="TextBox 4"/>
          <p:cNvSpPr txBox="1"/>
          <p:nvPr/>
        </p:nvSpPr>
        <p:spPr>
          <a:xfrm>
            <a:off x="11338560" y="6446520"/>
            <a:ext cx="731520" cy="320040"/>
          </a:xfrm>
          <a:prstGeom prst="rect">
            <a:avLst/>
          </a:prstGeom>
          <a:noFill/>
        </p:spPr>
        <p:txBody>
          <a:bodyPr wrap="none">
            <a:spAutoFit/>
          </a:bodyPr>
          <a:lstStyle/>
          <a:p>
            <a:pPr algn="r">
              <a:defRPr sz="1200">
                <a:solidFill>
                  <a:srgbClr val="5A6A78"/>
                </a:solidFill>
              </a:defRPr>
            </a:pPr>
            <a:r>
              <a:t>16</a:t>
            </a:r>
          </a:p>
        </p:txBody>
      </p:sp>
      <p:sp>
        <p:nvSpPr>
          <p:cNvPr id="6" name="TextBox 5"/>
          <p:cNvSpPr txBox="1"/>
          <p:nvPr/>
        </p:nvSpPr>
        <p:spPr>
          <a:xfrm>
            <a:off x="548640" y="1188720"/>
            <a:ext cx="11064240" cy="914400"/>
          </a:xfrm>
          <a:prstGeom prst="rect">
            <a:avLst/>
          </a:prstGeom>
          <a:noFill/>
        </p:spPr>
        <p:txBody>
          <a:bodyPr wrap="square">
            <a:spAutoFit/>
          </a:bodyPr>
          <a:lstStyle/>
          <a:p>
            <a:pPr>
              <a:spcAft>
                <a:spcPts val="600"/>
              </a:spcAft>
              <a:defRPr sz="1900" b="1">
                <a:solidFill>
                  <a:srgbClr val="C0392B"/>
                </a:solidFill>
              </a:defRPr>
            </a:pPr>
            <a:r>
              <a:t>Başlangıç: G₁ = H⁺ ,  ilk akış = en küçük normlu satır</a:t>
            </a:r>
          </a:p>
        </p:txBody>
      </p:sp>
      <p:sp>
        <p:nvSpPr>
          <p:cNvPr id="7" name="Rectangle 6"/>
          <p:cNvSpPr/>
          <p:nvPr/>
        </p:nvSpPr>
        <p:spPr>
          <a:xfrm>
            <a:off x="914400" y="2194560"/>
            <a:ext cx="10332720" cy="2807208"/>
          </a:xfrm>
          <a:prstGeom prst="rect">
            <a:avLst/>
          </a:prstGeom>
          <a:solidFill>
            <a:srgbClr val="F4F1E8"/>
          </a:solidFill>
          <a:ln w="12700">
            <a:solidFill>
              <a:srgbClr val="D9CEB0"/>
            </a:solidFill>
          </a:ln>
          <a:effectLst/>
        </p:spPr>
        <p:style>
          <a:lnRef idx="1">
            <a:schemeClr val="accent1"/>
          </a:lnRef>
          <a:fillRef idx="3">
            <a:schemeClr val="accent1"/>
          </a:fillRef>
          <a:effectRef idx="2">
            <a:schemeClr val="accent1"/>
          </a:effectRef>
          <a:fontRef idx="minor">
            <a:schemeClr val="lt1"/>
          </a:fontRef>
        </p:style>
        <p:txBody>
          <a:bodyPr rtlCol="0" anchor="ctr" wrap="square" tIns="101600" bIns="101600"/>
          <a:lstStyle/>
          <a:p>
            <a:pPr algn="ctr">
              <a:spcAft>
                <a:spcPts val="400"/>
              </a:spcAft>
              <a:defRPr sz="1700">
                <a:solidFill>
                  <a:srgbClr val="0B3D5C"/>
                </a:solidFill>
                <a:latin typeface="Consolas"/>
              </a:defRPr>
            </a:pPr>
            <a:r>
              <a:t>w_{k_i} = (G_i)_{k_i}            (nulling vektörü)</a:t>
            </a:r>
          </a:p>
          <a:p>
            <a:pPr algn="ctr">
              <a:spcAft>
                <a:spcPts val="400"/>
              </a:spcAft>
              <a:defRPr sz="1700">
                <a:solidFill>
                  <a:srgbClr val="0B3D5C"/>
                </a:solidFill>
                <a:latin typeface="Consolas"/>
              </a:defRPr>
            </a:pPr>
            <a:r>
              <a:t>y_{k_i} = w_{k_i}ᵀ · r_i          (karar istatistiği)</a:t>
            </a:r>
          </a:p>
          <a:p>
            <a:pPr algn="ctr">
              <a:spcAft>
                <a:spcPts val="400"/>
              </a:spcAft>
              <a:defRPr sz="1700">
                <a:solidFill>
                  <a:srgbClr val="0B3D5C"/>
                </a:solidFill>
                <a:latin typeface="Consolas"/>
              </a:defRPr>
            </a:pPr>
            <a:r>
              <a:t>â_{k_i} = Q( y_{k_i} )            (slicing)</a:t>
            </a:r>
          </a:p>
          <a:p>
            <a:pPr algn="ctr">
              <a:spcAft>
                <a:spcPts val="400"/>
              </a:spcAft>
              <a:defRPr sz="1700">
                <a:solidFill>
                  <a:srgbClr val="0B3D5C"/>
                </a:solidFill>
                <a:latin typeface="Consolas"/>
              </a:defRPr>
            </a:pPr>
            <a:r>
              <a:t>r_{i+1} = r_i − â_{k_i}·(H)_{k_i}    (iptal / cancellation)</a:t>
            </a:r>
          </a:p>
          <a:p>
            <a:pPr algn="ctr">
              <a:spcAft>
                <a:spcPts val="400"/>
              </a:spcAft>
              <a:defRPr sz="1700">
                <a:solidFill>
                  <a:srgbClr val="0B3D5C"/>
                </a:solidFill>
                <a:latin typeface="Consolas"/>
              </a:defRPr>
            </a:pPr>
            <a:r>
              <a:t>G_{i+1} = (H_{k̄_i})⁺             (deflation: sütunu sıfırla)</a:t>
            </a:r>
          </a:p>
          <a:p>
            <a:pPr algn="ctr">
              <a:spcAft>
                <a:spcPts val="400"/>
              </a:spcAft>
              <a:defRPr sz="1700">
                <a:solidFill>
                  <a:srgbClr val="0B3D5C"/>
                </a:solidFill>
                <a:latin typeface="Consolas"/>
              </a:defRPr>
            </a:pPr>
            <a:r>
              <a:t>k_{i+1} = arg min_j ‖(G_{i+1})_j‖²   (sonraki en iyi akış)</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972800" cy="777240"/>
          </a:xfrm>
          <a:prstGeom prst="rect">
            <a:avLst/>
          </a:prstGeom>
          <a:noFill/>
        </p:spPr>
        <p:txBody>
          <a:bodyPr wrap="square" anchor="ctr">
            <a:spAutoFit/>
          </a:bodyPr>
          <a:lstStyle/>
          <a:p>
            <a:pPr>
              <a:defRPr sz="3000" b="1">
                <a:solidFill>
                  <a:srgbClr val="FFFFFF"/>
                </a:solidFill>
              </a:defRPr>
            </a:pPr>
            <a:r>
              <a:t>Makale Laboratuvar Sonuçları</a:t>
            </a:r>
          </a:p>
        </p:txBody>
      </p:sp>
      <p:sp>
        <p:nvSpPr>
          <p:cNvPr id="5" name="TextBox 4"/>
          <p:cNvSpPr txBox="1"/>
          <p:nvPr/>
        </p:nvSpPr>
        <p:spPr>
          <a:xfrm>
            <a:off x="11338560" y="6446520"/>
            <a:ext cx="731520" cy="320040"/>
          </a:xfrm>
          <a:prstGeom prst="rect">
            <a:avLst/>
          </a:prstGeom>
          <a:noFill/>
        </p:spPr>
        <p:txBody>
          <a:bodyPr wrap="none">
            <a:spAutoFit/>
          </a:bodyPr>
          <a:lstStyle/>
          <a:p>
            <a:pPr algn="r">
              <a:defRPr sz="1200">
                <a:solidFill>
                  <a:srgbClr val="5A6A78"/>
                </a:solidFill>
              </a:defRPr>
            </a:pPr>
            <a:r>
              <a:t>17</a:t>
            </a:r>
          </a:p>
        </p:txBody>
      </p:sp>
      <p:sp>
        <p:nvSpPr>
          <p:cNvPr id="6" name="TextBox 5"/>
          <p:cNvSpPr txBox="1"/>
          <p:nvPr/>
        </p:nvSpPr>
        <p:spPr>
          <a:xfrm>
            <a:off x="548640" y="1234440"/>
            <a:ext cx="11064240" cy="1371600"/>
          </a:xfrm>
          <a:prstGeom prst="rect">
            <a:avLst/>
          </a:prstGeom>
          <a:noFill/>
        </p:spPr>
        <p:txBody>
          <a:bodyPr wrap="square">
            <a:spAutoFit/>
          </a:bodyPr>
          <a:lstStyle/>
          <a:p>
            <a:pPr>
              <a:spcAft>
                <a:spcPts val="600"/>
              </a:spcAft>
              <a:defRPr sz="1800">
                <a:solidFill>
                  <a:srgbClr val="222A32"/>
                </a:solidFill>
              </a:defRPr>
            </a:pPr>
            <a:r>
              <a:t>•  Prototip: 1.9 GHz, M=8/N=12, 16-QAM, gerçek ofis ortamı</a:t>
            </a:r>
          </a:p>
          <a:p>
            <a:pPr>
              <a:spcAft>
                <a:spcPts val="600"/>
              </a:spcAft>
              <a:defRPr sz="1800">
                <a:solidFill>
                  <a:srgbClr val="222A32"/>
                </a:solidFill>
              </a:defRPr>
            </a:pPr>
            <a:r>
              <a:t>•  Sol (Şekil 2): iptal ~4 dB kazanç • Sağ (Şekil 3): konuma göre gürbüz • 20–40 bps/Hz, 621 kbps@30kHz</a:t>
            </a:r>
          </a:p>
        </p:txBody>
      </p:sp>
      <p:pic>
        <p:nvPicPr>
          <p:cNvPr id="7" name="Picture 6" descr="image_000001_8adf4ed878851685720df041e7d6ba23fb8a891ef424b08e399eda1d98b68ab5.png"/>
          <p:cNvPicPr>
            <a:picLocks noChangeAspect="1"/>
          </p:cNvPicPr>
          <p:nvPr/>
        </p:nvPicPr>
        <p:blipFill>
          <a:blip r:embed="rId2"/>
          <a:stretch>
            <a:fillRect/>
          </a:stretch>
        </p:blipFill>
        <p:spPr>
          <a:xfrm>
            <a:off x="457200" y="2697480"/>
            <a:ext cx="5486400" cy="3840480"/>
          </a:xfrm>
          <a:prstGeom prst="rect">
            <a:avLst/>
          </a:prstGeom>
        </p:spPr>
      </p:pic>
      <p:sp>
        <p:nvSpPr>
          <p:cNvPr id="8" name="TextBox 7"/>
          <p:cNvSpPr txBox="1"/>
          <p:nvPr/>
        </p:nvSpPr>
        <p:spPr>
          <a:xfrm>
            <a:off x="457200" y="6537960"/>
            <a:ext cx="5486400" cy="274320"/>
          </a:xfrm>
          <a:prstGeom prst="rect">
            <a:avLst/>
          </a:prstGeom>
          <a:noFill/>
        </p:spPr>
        <p:txBody>
          <a:bodyPr wrap="none">
            <a:spAutoFit/>
          </a:bodyPr>
          <a:lstStyle/>
          <a:p>
            <a:pPr algn="ctr">
              <a:defRPr sz="1200" i="1">
                <a:solidFill>
                  <a:srgbClr val="5A6A78"/>
                </a:solidFill>
              </a:defRPr>
            </a:pPr>
            <a:r>
              <a:t>Şekil 2 — BLER vs SNR</a:t>
            </a:r>
          </a:p>
        </p:txBody>
      </p:sp>
      <p:pic>
        <p:nvPicPr>
          <p:cNvPr id="9" name="Picture 8" descr="image_000002_e95a23d01c92b8f65f628d5c88772bcd8351db83569ab2136a9fa493c3fde56f.png"/>
          <p:cNvPicPr>
            <a:picLocks noChangeAspect="1"/>
          </p:cNvPicPr>
          <p:nvPr/>
        </p:nvPicPr>
        <p:blipFill>
          <a:blip r:embed="rId3"/>
          <a:stretch>
            <a:fillRect/>
          </a:stretch>
        </p:blipFill>
        <p:spPr>
          <a:xfrm>
            <a:off x="6309360" y="2697480"/>
            <a:ext cx="5486400" cy="384048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972800" cy="777240"/>
          </a:xfrm>
          <a:prstGeom prst="rect">
            <a:avLst/>
          </a:prstGeom>
          <a:noFill/>
        </p:spPr>
        <p:txBody>
          <a:bodyPr wrap="square" anchor="ctr">
            <a:spAutoFit/>
          </a:bodyPr>
          <a:lstStyle/>
          <a:p>
            <a:pPr>
              <a:defRPr sz="3000" b="1">
                <a:solidFill>
                  <a:srgbClr val="FFFFFF"/>
                </a:solidFill>
              </a:defRPr>
            </a:pPr>
            <a:r>
              <a:t>Bizim Simülasyonumuz: Kurulum</a:t>
            </a:r>
          </a:p>
        </p:txBody>
      </p:sp>
      <p:sp>
        <p:nvSpPr>
          <p:cNvPr id="5" name="TextBox 4"/>
          <p:cNvSpPr txBox="1"/>
          <p:nvPr/>
        </p:nvSpPr>
        <p:spPr>
          <a:xfrm>
            <a:off x="11338560" y="6446520"/>
            <a:ext cx="731520" cy="320040"/>
          </a:xfrm>
          <a:prstGeom prst="rect">
            <a:avLst/>
          </a:prstGeom>
          <a:noFill/>
        </p:spPr>
        <p:txBody>
          <a:bodyPr wrap="none">
            <a:spAutoFit/>
          </a:bodyPr>
          <a:lstStyle/>
          <a:p>
            <a:pPr algn="r">
              <a:defRPr sz="1200">
                <a:solidFill>
                  <a:srgbClr val="5A6A78"/>
                </a:solidFill>
              </a:defRPr>
            </a:pPr>
            <a:r>
              <a:t>18</a:t>
            </a:r>
          </a:p>
        </p:txBody>
      </p:sp>
      <p:sp>
        <p:nvSpPr>
          <p:cNvPr id="6" name="TextBox 5"/>
          <p:cNvSpPr txBox="1"/>
          <p:nvPr/>
        </p:nvSpPr>
        <p:spPr>
          <a:xfrm>
            <a:off x="548640" y="1234440"/>
            <a:ext cx="11064240" cy="4937760"/>
          </a:xfrm>
          <a:prstGeom prst="rect">
            <a:avLst/>
          </a:prstGeom>
          <a:noFill/>
        </p:spPr>
        <p:txBody>
          <a:bodyPr wrap="square">
            <a:spAutoFit/>
          </a:bodyPr>
          <a:lstStyle/>
          <a:p>
            <a:pPr>
              <a:spcAft>
                <a:spcPts val="600"/>
              </a:spcAft>
              <a:defRPr sz="1900">
                <a:solidFill>
                  <a:srgbClr val="222A32"/>
                </a:solidFill>
              </a:defRPr>
            </a:pPr>
            <a:r>
              <a:t>•  Makale ortamı MATLAB'de — TOOLBOX FONKSİYONU KULLANMADAN</a:t>
            </a:r>
          </a:p>
          <a:p>
            <a:pPr>
              <a:spcAft>
                <a:spcPts val="600"/>
              </a:spcAft>
              <a:defRPr sz="1900">
                <a:solidFill>
                  <a:srgbClr val="222A32"/>
                </a:solidFill>
              </a:defRPr>
            </a:pPr>
            <a:r>
              <a:t>•  M=8, N=12, 16-QAM, Rayleigh flat fading (H ~ i.i.d. CN(0,1))</a:t>
            </a:r>
          </a:p>
          <a:p>
            <a:pPr>
              <a:spcAft>
                <a:spcPts val="600"/>
              </a:spcAft>
              <a:defRPr sz="1900">
                <a:solidFill>
                  <a:srgbClr val="222A32"/>
                </a:solidFill>
              </a:defRPr>
            </a:pPr>
            <a:r>
              <a:t>•  Sıfırdan: QAM mod/demod, kanal, gürültü, ZF/MMSE/SIC alıcı</a:t>
            </a:r>
          </a:p>
          <a:p>
            <a:pPr>
              <a:spcAft>
                <a:spcPts val="600"/>
              </a:spcAft>
              <a:defRPr sz="1900">
                <a:solidFill>
                  <a:srgbClr val="222A32"/>
                </a:solidFill>
              </a:defRPr>
            </a:pPr>
            <a:r>
              <a:t>•  Monte Carlo: BLER &amp; BER vs SNR</a:t>
            </a:r>
          </a:p>
          <a:p>
            <a:pPr>
              <a:spcAft>
                <a:spcPts val="600"/>
              </a:spcAft>
              <a:defRPr sz="1900" b="1">
                <a:solidFill>
                  <a:srgbClr val="C0392B"/>
                </a:solidFill>
              </a:defRPr>
            </a:pPr>
            <a:r>
              <a:t>Göstereceğimiz: SIM-1 ana karşılaştırma · SIM-2 sıralama · SIM-3 alıcı tipi + N etkisi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972800" cy="777240"/>
          </a:xfrm>
          <a:prstGeom prst="rect">
            <a:avLst/>
          </a:prstGeom>
          <a:noFill/>
        </p:spPr>
        <p:txBody>
          <a:bodyPr wrap="square" anchor="ctr">
            <a:spAutoFit/>
          </a:bodyPr>
          <a:lstStyle/>
          <a:p>
            <a:pPr>
              <a:defRPr sz="3000" b="1">
                <a:solidFill>
                  <a:srgbClr val="FFFFFF"/>
                </a:solidFill>
              </a:defRPr>
            </a:pPr>
            <a:r>
              <a:t>Simülasyon 1: BLER &amp; BER — Nulling vs V-BLAST</a:t>
            </a:r>
          </a:p>
        </p:txBody>
      </p:sp>
      <p:sp>
        <p:nvSpPr>
          <p:cNvPr id="5" name="TextBox 4"/>
          <p:cNvSpPr txBox="1"/>
          <p:nvPr/>
        </p:nvSpPr>
        <p:spPr>
          <a:xfrm>
            <a:off x="11338560" y="6446520"/>
            <a:ext cx="731520" cy="320040"/>
          </a:xfrm>
          <a:prstGeom prst="rect">
            <a:avLst/>
          </a:prstGeom>
          <a:noFill/>
        </p:spPr>
        <p:txBody>
          <a:bodyPr wrap="none">
            <a:spAutoFit/>
          </a:bodyPr>
          <a:lstStyle/>
          <a:p>
            <a:pPr algn="r">
              <a:defRPr sz="1200">
                <a:solidFill>
                  <a:srgbClr val="5A6A78"/>
                </a:solidFill>
              </a:defRPr>
            </a:pPr>
            <a:r>
              <a:t>19</a:t>
            </a:r>
          </a:p>
        </p:txBody>
      </p:sp>
      <p:sp>
        <p:nvSpPr>
          <p:cNvPr id="6" name="TextBox 5"/>
          <p:cNvSpPr txBox="1"/>
          <p:nvPr/>
        </p:nvSpPr>
        <p:spPr>
          <a:xfrm>
            <a:off x="548640" y="1234440"/>
            <a:ext cx="11064240" cy="1371600"/>
          </a:xfrm>
          <a:prstGeom prst="rect">
            <a:avLst/>
          </a:prstGeom>
          <a:noFill/>
        </p:spPr>
        <p:txBody>
          <a:bodyPr wrap="square">
            <a:spAutoFit/>
          </a:bodyPr>
          <a:lstStyle/>
          <a:p>
            <a:pPr>
              <a:spcAft>
                <a:spcPts val="600"/>
              </a:spcAft>
              <a:defRPr sz="1800">
                <a:solidFill>
                  <a:srgbClr val="222A32"/>
                </a:solidFill>
              </a:defRPr>
            </a:pPr>
            <a:r>
              <a:t>•  V-BLAST, saf nulling'den ~4 dB daha iyi (ölçülen: 4.4 dB) → makale ~4 dB ile birebir</a:t>
            </a:r>
          </a:p>
          <a:p>
            <a:pPr>
              <a:spcAft>
                <a:spcPts val="600"/>
              </a:spcAft>
              <a:defRPr sz="1800">
                <a:solidFill>
                  <a:srgbClr val="222A32"/>
                </a:solidFill>
              </a:defRPr>
            </a:pPr>
            <a:r>
              <a:t>•  V-BLAST eğimi daha dik: her doğru karar sonrakini kolaylaştırır</a:t>
            </a:r>
          </a:p>
        </p:txBody>
      </p:sp>
      <p:pic>
        <p:nvPicPr>
          <p:cNvPr id="7" name="Picture 6" descr="SIM-1.png"/>
          <p:cNvPicPr>
            <a:picLocks noChangeAspect="1"/>
          </p:cNvPicPr>
          <p:nvPr/>
        </p:nvPicPr>
        <p:blipFill>
          <a:blip r:embed="rId2"/>
          <a:stretch>
            <a:fillRect/>
          </a:stretch>
        </p:blipFill>
        <p:spPr>
          <a:xfrm>
            <a:off x="2194560" y="3098569"/>
            <a:ext cx="7772400" cy="3038302"/>
          </a:xfrm>
          <a:prstGeom prst="rect">
            <a:avLst/>
          </a:prstGeom>
        </p:spPr>
      </p:pic>
      <p:sp>
        <p:nvSpPr>
          <p:cNvPr id="8" name="TextBox 7"/>
          <p:cNvSpPr txBox="1"/>
          <p:nvPr/>
        </p:nvSpPr>
        <p:spPr>
          <a:xfrm>
            <a:off x="2194560" y="6537960"/>
            <a:ext cx="7772400" cy="274320"/>
          </a:xfrm>
          <a:prstGeom prst="rect">
            <a:avLst/>
          </a:prstGeom>
          <a:noFill/>
        </p:spPr>
        <p:txBody>
          <a:bodyPr wrap="none">
            <a:spAutoFit/>
          </a:bodyPr>
          <a:lstStyle/>
          <a:p>
            <a:pPr algn="ctr">
              <a:defRPr sz="1200" i="1">
                <a:solidFill>
                  <a:srgbClr val="5A6A78"/>
                </a:solidFill>
              </a:defRPr>
            </a:pPr>
            <a:r>
              <a:t>SIM-1 — kendi kodumuz, M=8 N=12 16-QAM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972800" cy="777240"/>
          </a:xfrm>
          <a:prstGeom prst="rect">
            <a:avLst/>
          </a:prstGeom>
          <a:noFill/>
        </p:spPr>
        <p:txBody>
          <a:bodyPr wrap="square" anchor="ctr">
            <a:spAutoFit/>
          </a:bodyPr>
          <a:lstStyle/>
          <a:p>
            <a:pPr>
              <a:defRPr sz="3000" b="1">
                <a:solidFill>
                  <a:srgbClr val="FFFFFF"/>
                </a:solidFill>
              </a:defRPr>
            </a:pPr>
            <a:r>
              <a:t>Simülasyon 2: Sıralamanın Etkisi</a:t>
            </a:r>
          </a:p>
        </p:txBody>
      </p:sp>
      <p:sp>
        <p:nvSpPr>
          <p:cNvPr id="5" name="TextBox 4"/>
          <p:cNvSpPr txBox="1"/>
          <p:nvPr/>
        </p:nvSpPr>
        <p:spPr>
          <a:xfrm>
            <a:off x="11338560" y="6446520"/>
            <a:ext cx="731520" cy="320040"/>
          </a:xfrm>
          <a:prstGeom prst="rect">
            <a:avLst/>
          </a:prstGeom>
          <a:noFill/>
        </p:spPr>
        <p:txBody>
          <a:bodyPr wrap="none">
            <a:spAutoFit/>
          </a:bodyPr>
          <a:lstStyle/>
          <a:p>
            <a:pPr algn="r">
              <a:defRPr sz="1200">
                <a:solidFill>
                  <a:srgbClr val="5A6A78"/>
                </a:solidFill>
              </a:defRPr>
            </a:pPr>
            <a:r>
              <a:t>20</a:t>
            </a:r>
          </a:p>
        </p:txBody>
      </p:sp>
      <p:sp>
        <p:nvSpPr>
          <p:cNvPr id="6" name="TextBox 5"/>
          <p:cNvSpPr txBox="1"/>
          <p:nvPr/>
        </p:nvSpPr>
        <p:spPr>
          <a:xfrm>
            <a:off x="548640" y="1234440"/>
            <a:ext cx="11064240" cy="1371600"/>
          </a:xfrm>
          <a:prstGeom prst="rect">
            <a:avLst/>
          </a:prstGeom>
          <a:noFill/>
        </p:spPr>
        <p:txBody>
          <a:bodyPr wrap="square">
            <a:spAutoFit/>
          </a:bodyPr>
          <a:lstStyle/>
          <a:p>
            <a:pPr>
              <a:spcAft>
                <a:spcPts val="600"/>
              </a:spcAft>
              <a:defRPr sz="1800">
                <a:solidFill>
                  <a:srgbClr val="222A32"/>
                </a:solidFill>
              </a:defRPr>
            </a:pPr>
            <a:r>
              <a:t>•  Sıralı (maximin) iptal, sırasıza göre ~3 dB daha iyi</a:t>
            </a:r>
          </a:p>
          <a:p>
            <a:pPr>
              <a:spcAft>
                <a:spcPts val="600"/>
              </a:spcAft>
              <a:defRPr sz="1800">
                <a:solidFill>
                  <a:srgbClr val="222A32"/>
                </a:solidFill>
              </a:defRPr>
            </a:pPr>
            <a:r>
              <a:t>•  Makalenin ana teorik katkısının (optimal sıralama) deneysel kanıtı</a:t>
            </a:r>
          </a:p>
        </p:txBody>
      </p:sp>
      <p:pic>
        <p:nvPicPr>
          <p:cNvPr id="7" name="Picture 6" descr="SIM-2.png"/>
          <p:cNvPicPr>
            <a:picLocks noChangeAspect="1"/>
          </p:cNvPicPr>
          <p:nvPr/>
        </p:nvPicPr>
        <p:blipFill>
          <a:blip r:embed="rId2"/>
          <a:stretch>
            <a:fillRect/>
          </a:stretch>
        </p:blipFill>
        <p:spPr>
          <a:xfrm>
            <a:off x="2194560" y="2697480"/>
            <a:ext cx="7772400" cy="3840480"/>
          </a:xfrm>
          <a:prstGeom prst="rect">
            <a:avLst/>
          </a:prstGeom>
        </p:spPr>
      </p:pic>
      <p:sp>
        <p:nvSpPr>
          <p:cNvPr id="8" name="TextBox 7"/>
          <p:cNvSpPr txBox="1"/>
          <p:nvPr/>
        </p:nvSpPr>
        <p:spPr>
          <a:xfrm>
            <a:off x="2194560" y="6537960"/>
            <a:ext cx="7772400" cy="274320"/>
          </a:xfrm>
          <a:prstGeom prst="rect">
            <a:avLst/>
          </a:prstGeom>
          <a:noFill/>
        </p:spPr>
        <p:txBody>
          <a:bodyPr wrap="none">
            <a:spAutoFit/>
          </a:bodyPr>
          <a:lstStyle/>
          <a:p>
            <a:pPr algn="ctr">
              <a:defRPr sz="1200" i="1">
                <a:solidFill>
                  <a:srgbClr val="5A6A78"/>
                </a:solidFill>
              </a:defRPr>
            </a:pPr>
            <a:r>
              <a:t>SIM-2 — sıralı SIC vs sabit sıralı SIC</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972800" cy="777240"/>
          </a:xfrm>
          <a:prstGeom prst="rect">
            <a:avLst/>
          </a:prstGeom>
          <a:noFill/>
        </p:spPr>
        <p:txBody>
          <a:bodyPr wrap="square" anchor="ctr">
            <a:spAutoFit/>
          </a:bodyPr>
          <a:lstStyle/>
          <a:p>
            <a:pPr>
              <a:defRPr sz="3000" b="1">
                <a:solidFill>
                  <a:srgbClr val="FFFFFF"/>
                </a:solidFill>
              </a:defRPr>
            </a:pPr>
            <a:r>
              <a:t>Simülasyon 3: Alıcı Tipi &amp; Anten Sayısı</a:t>
            </a:r>
          </a:p>
        </p:txBody>
      </p:sp>
      <p:sp>
        <p:nvSpPr>
          <p:cNvPr id="5" name="TextBox 4"/>
          <p:cNvSpPr txBox="1"/>
          <p:nvPr/>
        </p:nvSpPr>
        <p:spPr>
          <a:xfrm>
            <a:off x="11338560" y="6446520"/>
            <a:ext cx="731520" cy="320040"/>
          </a:xfrm>
          <a:prstGeom prst="rect">
            <a:avLst/>
          </a:prstGeom>
          <a:noFill/>
        </p:spPr>
        <p:txBody>
          <a:bodyPr wrap="none">
            <a:spAutoFit/>
          </a:bodyPr>
          <a:lstStyle/>
          <a:p>
            <a:pPr algn="r">
              <a:defRPr sz="1200">
                <a:solidFill>
                  <a:srgbClr val="5A6A78"/>
                </a:solidFill>
              </a:defRPr>
            </a:pPr>
            <a:r>
              <a:t>21</a:t>
            </a:r>
          </a:p>
        </p:txBody>
      </p:sp>
      <p:sp>
        <p:nvSpPr>
          <p:cNvPr id="6" name="TextBox 5"/>
          <p:cNvSpPr txBox="1"/>
          <p:nvPr/>
        </p:nvSpPr>
        <p:spPr>
          <a:xfrm>
            <a:off x="548640" y="1234440"/>
            <a:ext cx="11064240" cy="1371600"/>
          </a:xfrm>
          <a:prstGeom prst="rect">
            <a:avLst/>
          </a:prstGeom>
          <a:noFill/>
        </p:spPr>
        <p:txBody>
          <a:bodyPr wrap="square">
            <a:spAutoFit/>
          </a:bodyPr>
          <a:lstStyle/>
          <a:p>
            <a:pPr>
              <a:spcAft>
                <a:spcPts val="600"/>
              </a:spcAft>
              <a:defRPr sz="1800">
                <a:solidFill>
                  <a:srgbClr val="222A32"/>
                </a:solidFill>
              </a:defRPr>
            </a:pPr>
            <a:r>
              <a:t>•  (a) N=M=8 kare sistemde MMSE, ZF'ten ~3 dB iyi (ZF gürültüyü büyütür)</a:t>
            </a:r>
          </a:p>
          <a:p>
            <a:pPr>
              <a:spcAft>
                <a:spcPts val="600"/>
              </a:spcAft>
              <a:defRPr sz="1800">
                <a:solidFill>
                  <a:srgbClr val="222A32"/>
                </a:solidFill>
              </a:defRPr>
            </a:pPr>
            <a:r>
              <a:t>•  (b) N=12→16→20 arttıkça performans belirgin iyileşir (çeşitleme kazancı)</a:t>
            </a:r>
          </a:p>
        </p:txBody>
      </p:sp>
      <p:pic>
        <p:nvPicPr>
          <p:cNvPr id="7" name="Picture 6" descr="SIM-3.png"/>
          <p:cNvPicPr>
            <a:picLocks noChangeAspect="1"/>
          </p:cNvPicPr>
          <p:nvPr/>
        </p:nvPicPr>
        <p:blipFill>
          <a:blip r:embed="rId2"/>
          <a:stretch>
            <a:fillRect/>
          </a:stretch>
        </p:blipFill>
        <p:spPr>
          <a:xfrm>
            <a:off x="2194560" y="3098569"/>
            <a:ext cx="7772400" cy="3038302"/>
          </a:xfrm>
          <a:prstGeom prst="rect">
            <a:avLst/>
          </a:prstGeom>
        </p:spPr>
      </p:pic>
      <p:sp>
        <p:nvSpPr>
          <p:cNvPr id="8" name="TextBox 7"/>
          <p:cNvSpPr txBox="1"/>
          <p:nvPr/>
        </p:nvSpPr>
        <p:spPr>
          <a:xfrm>
            <a:off x="2194560" y="6537960"/>
            <a:ext cx="7772400" cy="274320"/>
          </a:xfrm>
          <a:prstGeom prst="rect">
            <a:avLst/>
          </a:prstGeom>
          <a:noFill/>
        </p:spPr>
        <p:txBody>
          <a:bodyPr wrap="none">
            <a:spAutoFit/>
          </a:bodyPr>
          <a:lstStyle/>
          <a:p>
            <a:pPr algn="ctr">
              <a:defRPr sz="1200" i="1">
                <a:solidFill>
                  <a:srgbClr val="5A6A78"/>
                </a:solidFill>
              </a:defRPr>
            </a:pPr>
            <a:r>
              <a:t>SIM-3 — (a) ZF vs MMSE   (b) N etkisi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972800" cy="777240"/>
          </a:xfrm>
          <a:prstGeom prst="rect">
            <a:avLst/>
          </a:prstGeom>
          <a:noFill/>
        </p:spPr>
        <p:txBody>
          <a:bodyPr wrap="square" anchor="ctr">
            <a:spAutoFit/>
          </a:bodyPr>
          <a:lstStyle/>
          <a:p>
            <a:pPr>
              <a:defRPr sz="3000" b="1">
                <a:solidFill>
                  <a:srgbClr val="FFFFFF"/>
                </a:solidFill>
              </a:defRPr>
            </a:pPr>
            <a:r>
              <a:t>Sonuçlar, Önem &amp; Kapanış</a:t>
            </a:r>
          </a:p>
        </p:txBody>
      </p:sp>
      <p:sp>
        <p:nvSpPr>
          <p:cNvPr id="5" name="TextBox 4"/>
          <p:cNvSpPr txBox="1"/>
          <p:nvPr/>
        </p:nvSpPr>
        <p:spPr>
          <a:xfrm>
            <a:off x="11338560" y="6446520"/>
            <a:ext cx="731520" cy="320040"/>
          </a:xfrm>
          <a:prstGeom prst="rect">
            <a:avLst/>
          </a:prstGeom>
          <a:noFill/>
        </p:spPr>
        <p:txBody>
          <a:bodyPr wrap="none">
            <a:spAutoFit/>
          </a:bodyPr>
          <a:lstStyle/>
          <a:p>
            <a:pPr algn="r">
              <a:defRPr sz="1200">
                <a:solidFill>
                  <a:srgbClr val="5A6A78"/>
                </a:solidFill>
              </a:defRPr>
            </a:pPr>
            <a:r>
              <a:t>22</a:t>
            </a:r>
          </a:p>
        </p:txBody>
      </p:sp>
      <p:sp>
        <p:nvSpPr>
          <p:cNvPr id="6" name="TextBox 5"/>
          <p:cNvSpPr txBox="1"/>
          <p:nvPr/>
        </p:nvSpPr>
        <p:spPr>
          <a:xfrm>
            <a:off x="548640" y="1234440"/>
            <a:ext cx="11064240" cy="4937760"/>
          </a:xfrm>
          <a:prstGeom prst="rect">
            <a:avLst/>
          </a:prstGeom>
          <a:noFill/>
        </p:spPr>
        <p:txBody>
          <a:bodyPr wrap="square">
            <a:spAutoFit/>
          </a:bodyPr>
          <a:lstStyle/>
          <a:p>
            <a:pPr>
              <a:spcAft>
                <a:spcPts val="600"/>
              </a:spcAft>
              <a:defRPr sz="2000">
                <a:solidFill>
                  <a:srgbClr val="222A32"/>
                </a:solidFill>
              </a:defRPr>
            </a:pPr>
            <a:r>
              <a:t>•  V-BLAST: basit verici + akıllı alıcı (nulling + sıralı iptal + optimal sıra)</a:t>
            </a:r>
          </a:p>
          <a:p>
            <a:pPr>
              <a:spcAft>
                <a:spcPts val="600"/>
              </a:spcAft>
              <a:defRPr sz="2000">
                <a:solidFill>
                  <a:srgbClr val="222A32"/>
                </a:solidFill>
              </a:defRPr>
            </a:pPr>
            <a:r>
              <a:t>•  20–40 bps/Hz — o güne dek eşi görülmemiş; multipath'i fırsata çevirdi</a:t>
            </a:r>
          </a:p>
          <a:p>
            <a:pPr>
              <a:spcAft>
                <a:spcPts val="600"/>
              </a:spcAft>
              <a:defRPr sz="2000">
                <a:solidFill>
                  <a:srgbClr val="222A32"/>
                </a:solidFill>
              </a:defRPr>
            </a:pPr>
            <a:r>
              <a:t>•  Simülasyonumuz doğruladı: V-BLAST&gt;nulling, sıralı&gt;sırasız, MMSE&gt;ZF, N↑</a:t>
            </a:r>
          </a:p>
          <a:p>
            <a:pPr>
              <a:spcAft>
                <a:spcPts val="600"/>
              </a:spcAft>
              <a:defRPr sz="2000" b="1">
                <a:solidFill>
                  <a:srgbClr val="C0392B"/>
                </a:solidFill>
              </a:defRPr>
            </a:pPr>
            <a:r>
              <a:t>Bugün: Wi-Fi (802.11n/ac/ax), 4G LTE ve 5G MIMO'sunun temeli</a:t>
            </a:r>
          </a:p>
          <a:p>
            <a:pPr>
              <a:spcAft>
                <a:spcPts val="600"/>
              </a:spcAft>
              <a:defRPr sz="2000">
                <a:solidFill>
                  <a:srgbClr val="222A32"/>
                </a:solidFill>
              </a:defRPr>
            </a:pPr>
            <a:r>
              <a:t>•  Teşekkürler — sorularınız?</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972800" cy="777240"/>
          </a:xfrm>
          <a:prstGeom prst="rect">
            <a:avLst/>
          </a:prstGeom>
          <a:noFill/>
        </p:spPr>
        <p:txBody>
          <a:bodyPr wrap="square" anchor="ctr">
            <a:spAutoFit/>
          </a:bodyPr>
          <a:lstStyle/>
          <a:p>
            <a:pPr>
              <a:defRPr sz="3000" b="1">
                <a:solidFill>
                  <a:srgbClr val="FFFFFF"/>
                </a:solidFill>
              </a:defRPr>
            </a:pPr>
            <a:r>
              <a:t>Kaynaklar &amp; Sorular</a:t>
            </a:r>
          </a:p>
        </p:txBody>
      </p:sp>
      <p:sp>
        <p:nvSpPr>
          <p:cNvPr id="5" name="TextBox 4"/>
          <p:cNvSpPr txBox="1"/>
          <p:nvPr/>
        </p:nvSpPr>
        <p:spPr>
          <a:xfrm>
            <a:off x="11338560" y="6446520"/>
            <a:ext cx="731520" cy="320040"/>
          </a:xfrm>
          <a:prstGeom prst="rect">
            <a:avLst/>
          </a:prstGeom>
          <a:noFill/>
        </p:spPr>
        <p:txBody>
          <a:bodyPr wrap="none">
            <a:spAutoFit/>
          </a:bodyPr>
          <a:lstStyle/>
          <a:p>
            <a:pPr algn="r">
              <a:defRPr sz="1200">
                <a:solidFill>
                  <a:srgbClr val="5A6A78"/>
                </a:solidFill>
              </a:defRPr>
            </a:pPr>
            <a:r>
              <a:t>23</a:t>
            </a:r>
          </a:p>
        </p:txBody>
      </p:sp>
      <p:sp>
        <p:nvSpPr>
          <p:cNvPr id="6" name="TextBox 5"/>
          <p:cNvSpPr txBox="1"/>
          <p:nvPr/>
        </p:nvSpPr>
        <p:spPr>
          <a:xfrm>
            <a:off x="548640" y="1234440"/>
            <a:ext cx="11064240" cy="4937760"/>
          </a:xfrm>
          <a:prstGeom prst="rect">
            <a:avLst/>
          </a:prstGeom>
          <a:noFill/>
        </p:spPr>
        <p:txBody>
          <a:bodyPr wrap="square">
            <a:spAutoFit/>
          </a:bodyPr>
          <a:lstStyle/>
          <a:p>
            <a:pPr>
              <a:spcAft>
                <a:spcPts val="600"/>
              </a:spcAft>
              <a:defRPr sz="1900">
                <a:solidFill>
                  <a:srgbClr val="222A32"/>
                </a:solidFill>
              </a:defRPr>
            </a:pPr>
            <a:r>
              <a:t>•  Wolniansky, Foschini, Golden, Valenzuela — V-BLAST (1998)</a:t>
            </a:r>
          </a:p>
          <a:p>
            <a:pPr>
              <a:spcAft>
                <a:spcPts val="600"/>
              </a:spcAft>
              <a:defRPr sz="1900">
                <a:solidFill>
                  <a:srgbClr val="222A32"/>
                </a:solidFill>
              </a:defRPr>
            </a:pPr>
            <a:r>
              <a:t>•  G. J. Foschini — Layered Space-Time Architecture, Bell Labs Tech. J. (1996)</a:t>
            </a:r>
          </a:p>
          <a:p>
            <a:pPr>
              <a:spcAft>
                <a:spcPts val="600"/>
              </a:spcAft>
              <a:defRPr sz="1900">
                <a:solidFill>
                  <a:srgbClr val="222A32"/>
                </a:solidFill>
              </a:defRPr>
            </a:pPr>
            <a:r>
              <a:t>•  Foschini &amp; Gans — On Limits of Wireless Comm. (1998)</a:t>
            </a:r>
          </a:p>
          <a:p>
            <a:pPr>
              <a:spcAft>
                <a:spcPts val="600"/>
              </a:spcAft>
              <a:defRPr sz="1900" b="1">
                <a:solidFill>
                  <a:srgbClr val="C0392B"/>
                </a:solidFill>
              </a:defRPr>
            </a:pPr>
            <a:r>
              <a:t>Sorular?</a:t>
            </a:r>
          </a:p>
          <a:p>
            <a:pPr>
              <a:spcAft>
                <a:spcPts val="600"/>
              </a:spcAft>
              <a:defRPr sz="1900">
                <a:solidFill>
                  <a:srgbClr val="222A32"/>
                </a:solidFill>
              </a:defRPr>
            </a:pPr>
            <a:r>
              <a:t>•  Hazır Q&amp;A: D-BLAST farkı · ZF/MMSE · sıralama · hata yayılımı · zengin saçılma · M≤N · çok antenin amaçları</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